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85" r:id="rId3"/>
    <p:sldId id="290" r:id="rId4"/>
    <p:sldId id="368" r:id="rId5"/>
    <p:sldId id="372" r:id="rId6"/>
    <p:sldId id="371" r:id="rId7"/>
    <p:sldId id="373" r:id="rId8"/>
    <p:sldId id="370" r:id="rId9"/>
    <p:sldId id="367" r:id="rId10"/>
    <p:sldId id="342" r:id="rId11"/>
    <p:sldId id="376" r:id="rId12"/>
    <p:sldId id="377" r:id="rId13"/>
    <p:sldId id="374" r:id="rId14"/>
    <p:sldId id="375" r:id="rId15"/>
    <p:sldId id="284"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elfolien" id="{5F7B3578-3FDC-4619-AF02-42D64D37B1A1}">
          <p14:sldIdLst>
            <p14:sldId id="256"/>
          </p14:sldIdLst>
        </p14:section>
        <p14:section name="Themenübersicht" id="{422EEBA4-4A68-400D-BFC4-67224AAAC47B}">
          <p14:sldIdLst>
            <p14:sldId id="285"/>
          </p14:sldIdLst>
        </p14:section>
        <p14:section name="Contentfolie" id="{1D398D77-FB3E-43A4-955D-AE8058DA52D6}">
          <p14:sldIdLst>
            <p14:sldId id="290"/>
            <p14:sldId id="368"/>
            <p14:sldId id="372"/>
            <p14:sldId id="371"/>
            <p14:sldId id="373"/>
            <p14:sldId id="370"/>
            <p14:sldId id="367"/>
            <p14:sldId id="342"/>
            <p14:sldId id="376"/>
            <p14:sldId id="377"/>
            <p14:sldId id="374"/>
            <p14:sldId id="375"/>
          </p14:sldIdLst>
        </p14:section>
        <p14:section name="Abschlussfolien" id="{3DEF3ECC-B0BC-426A-9C18-C020283118CD}">
          <p14:sldIdLst>
            <p14:sldId id="28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dith Schmidt" initials="WTA" lastIdx="14" clrIdx="0">
    <p:extLst>
      <p:ext uri="{19B8F6BF-5375-455C-9EA6-DF929625EA0E}">
        <p15:presenceInfo xmlns:p15="http://schemas.microsoft.com/office/powerpoint/2012/main" userId="474b2bd425d842c6" providerId="Windows Live"/>
      </p:ext>
    </p:extLst>
  </p:cmAuthor>
  <p:cmAuthor id="2" name="Nadin Härtwig" initials="NH" lastIdx="2" clrIdx="1">
    <p:extLst>
      <p:ext uri="{19B8F6BF-5375-455C-9EA6-DF929625EA0E}">
        <p15:presenceInfo xmlns:p15="http://schemas.microsoft.com/office/powerpoint/2012/main" userId="S-1-5-21-1661223178-1243372403-751859383-565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7" autoAdjust="0"/>
    <p:restoredTop sz="94660"/>
  </p:normalViewPr>
  <p:slideViewPr>
    <p:cSldViewPr snapToGrid="0" showGuides="1">
      <p:cViewPr varScale="1">
        <p:scale>
          <a:sx n="111" d="100"/>
          <a:sy n="111" d="100"/>
        </p:scale>
        <p:origin x="114" y="618"/>
      </p:cViewPr>
      <p:guideLst>
        <p:guide orient="horz" pos="2160"/>
        <p:guide pos="3840"/>
      </p:guideLst>
    </p:cSldViewPr>
  </p:slideViewPr>
  <p:notesTextViewPr>
    <p:cViewPr>
      <p:scale>
        <a:sx n="1" d="1"/>
        <a:sy n="1" d="1"/>
      </p:scale>
      <p:origin x="0" y="0"/>
    </p:cViewPr>
  </p:notesTextViewPr>
  <p:sorterViewPr>
    <p:cViewPr>
      <p:scale>
        <a:sx n="100" d="100"/>
        <a:sy n="100" d="100"/>
      </p:scale>
      <p:origin x="0" y="-85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32F82-A1A7-4E27-9EDA-BCDA36A3D567}" type="datetimeFigureOut">
              <a:rPr lang="de-DE" smtClean="0"/>
              <a:t>13.05.2022</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032DD2-93A8-4518-AFB6-76C529CD584D}" type="slidenum">
              <a:rPr lang="de-DE" smtClean="0"/>
              <a:t>‹Nr.›</a:t>
            </a:fld>
            <a:endParaRPr lang="de-DE"/>
          </a:p>
        </p:txBody>
      </p:sp>
    </p:spTree>
    <p:extLst>
      <p:ext uri="{BB962C8B-B14F-4D97-AF65-F5344CB8AC3E}">
        <p14:creationId xmlns:p14="http://schemas.microsoft.com/office/powerpoint/2010/main" val="3855631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13.05.2022</a:t>
            </a:fld>
            <a:endParaRPr lang="de-DE"/>
          </a:p>
        </p:txBody>
      </p:sp>
      <p:sp>
        <p:nvSpPr>
          <p:cNvPr id="5" name="Fußzeilenplatzhalter 4"/>
          <p:cNvSpPr>
            <a:spLocks noGrp="1"/>
          </p:cNvSpPr>
          <p:nvPr>
            <p:ph type="ftr" sz="quarter" idx="11"/>
          </p:nvPr>
        </p:nvSpPr>
        <p:spPr/>
        <p:txBody>
          <a:bodyPr/>
          <a:lstStyle>
            <a:lvl1pPr>
              <a:defRPr/>
            </a:lvl1pPr>
          </a:lstStyle>
          <a:p>
            <a:r>
              <a:rPr lang="de-DE" dirty="0"/>
              <a:t>PHP-&gt; Webserver -&gt; Datenbank </a:t>
            </a:r>
            <a:r>
              <a:rPr lang="de-DE" dirty="0">
                <a:sym typeface="Wingdings" panose="05000000000000000000" pitchFamily="2" charset="2"/>
              </a:rPr>
              <a:t> XAMPP</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pic>
        <p:nvPicPr>
          <p:cNvPr id="11" name="Grafik 10" descr="Ein Bild, das Text enthält.&#10;&#10;Automatisch generierte Beschreibung">
            <a:extLst>
              <a:ext uri="{FF2B5EF4-FFF2-40B4-BE49-F238E27FC236}">
                <a16:creationId xmlns:a16="http://schemas.microsoft.com/office/drawing/2014/main" id="{3F439D14-5848-1165-92F5-239662997F36}"/>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66089" y="8626"/>
            <a:ext cx="1308659" cy="897147"/>
          </a:xfrm>
          <a:prstGeom prst="rect">
            <a:avLst/>
          </a:prstGeom>
        </p:spPr>
      </p:pic>
    </p:spTree>
    <p:extLst>
      <p:ext uri="{BB962C8B-B14F-4D97-AF65-F5344CB8AC3E}">
        <p14:creationId xmlns:p14="http://schemas.microsoft.com/office/powerpoint/2010/main" val="1004346834"/>
      </p:ext>
    </p:extLst>
  </p:cSld>
  <p:clrMapOvr>
    <a:masterClrMapping/>
  </p:clrMapOvr>
  <p:extLst>
    <p:ext uri="{DCECCB84-F9BA-43D5-87BE-67443E8EF086}">
      <p15:sldGuideLst xmlns:p15="http://schemas.microsoft.com/office/powerpoint/2012/main">
        <p15:guide id="1" orient="horz" pos="232" userDrawn="1">
          <p15:clr>
            <a:srgbClr val="000000"/>
          </p15:clr>
        </p15:guide>
        <p15:guide id="2" orient="horz" pos="3861" userDrawn="1">
          <p15:clr>
            <a:srgbClr val="000000"/>
          </p15:clr>
        </p15:guide>
        <p15:guide id="3" pos="7469" userDrawn="1">
          <p15:clr>
            <a:srgbClr val="000000"/>
          </p15:clr>
        </p15:guide>
        <p15:guide id="4" pos="211" userDrawn="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13.05.2022</a:t>
            </a:fld>
            <a:endParaRPr lang="de-DE"/>
          </a:p>
        </p:txBody>
      </p:sp>
      <p:sp>
        <p:nvSpPr>
          <p:cNvPr id="5" name="Fußzeilenplatzhalter 4"/>
          <p:cNvSpPr>
            <a:spLocks noGrp="1"/>
          </p:cNvSpPr>
          <p:nvPr>
            <p:ph type="ftr" sz="quarter" idx="11"/>
          </p:nvPr>
        </p:nvSpPr>
        <p:spPr/>
        <p:txBody>
          <a:bodyPr/>
          <a:lstStyle/>
          <a:p>
            <a:r>
              <a:rPr lang="de-DE" dirty="0"/>
              <a:t>PHP-&gt; Webserver -&gt; Datenbank </a:t>
            </a:r>
            <a:r>
              <a:rPr lang="de-DE" dirty="0">
                <a:sym typeface="Wingdings" panose="05000000000000000000" pitchFamily="2" charset="2"/>
              </a:rPr>
              <a:t> XAMPP</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pic>
        <p:nvPicPr>
          <p:cNvPr id="25" name="Grafik 24" descr="Ein Bild, das Text enthält.&#10;&#10;Automatisch generierte Beschreibung">
            <a:extLst>
              <a:ext uri="{FF2B5EF4-FFF2-40B4-BE49-F238E27FC236}">
                <a16:creationId xmlns:a16="http://schemas.microsoft.com/office/drawing/2014/main" id="{69F51EA2-1065-8536-486E-8684DAD4D0C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66089" y="8626"/>
            <a:ext cx="1308659" cy="897147"/>
          </a:xfrm>
          <a:prstGeom prst="rect">
            <a:avLst/>
          </a:prstGeom>
        </p:spPr>
      </p:pic>
    </p:spTree>
    <p:extLst>
      <p:ext uri="{BB962C8B-B14F-4D97-AF65-F5344CB8AC3E}">
        <p14:creationId xmlns:p14="http://schemas.microsoft.com/office/powerpoint/2010/main" val="3734099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13.05.2022</a:t>
            </a:fld>
            <a:endParaRPr lang="de-DE"/>
          </a:p>
        </p:txBody>
      </p:sp>
      <p:sp>
        <p:nvSpPr>
          <p:cNvPr id="8" name="Fußzeilenplatzhalter 7"/>
          <p:cNvSpPr>
            <a:spLocks noGrp="1"/>
          </p:cNvSpPr>
          <p:nvPr>
            <p:ph type="ftr" sz="quarter" idx="11"/>
          </p:nvPr>
        </p:nvSpPr>
        <p:spPr/>
        <p:txBody>
          <a:bodyPr/>
          <a:lstStyle/>
          <a:p>
            <a:r>
              <a:rPr lang="de-DE" dirty="0"/>
              <a:t>PHP-&gt; Webserver -&gt; Datenbank </a:t>
            </a:r>
            <a:r>
              <a:rPr lang="de-DE" dirty="0">
                <a:sym typeface="Wingdings" panose="05000000000000000000" pitchFamily="2" charset="2"/>
              </a:rPr>
              <a:t> XAMPP</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pic>
        <p:nvPicPr>
          <p:cNvPr id="13" name="Grafik 12" descr="Ein Bild, das Text enthält.&#10;&#10;Automatisch generierte Beschreibung">
            <a:extLst>
              <a:ext uri="{FF2B5EF4-FFF2-40B4-BE49-F238E27FC236}">
                <a16:creationId xmlns:a16="http://schemas.microsoft.com/office/drawing/2014/main" id="{9B7B3C98-F30F-B1E3-2570-DDAFE9D455D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66089" y="615040"/>
            <a:ext cx="1308659" cy="897147"/>
          </a:xfrm>
          <a:prstGeom prst="rect">
            <a:avLst/>
          </a:prstGeom>
        </p:spPr>
      </p:pic>
    </p:spTree>
    <p:extLst>
      <p:ext uri="{BB962C8B-B14F-4D97-AF65-F5344CB8AC3E}">
        <p14:creationId xmlns:p14="http://schemas.microsoft.com/office/powerpoint/2010/main" val="898268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13.05.2022</a:t>
            </a:fld>
            <a:endParaRPr lang="de-DE"/>
          </a:p>
        </p:txBody>
      </p:sp>
      <p:sp>
        <p:nvSpPr>
          <p:cNvPr id="4" name="Fußzeilenplatzhalter 3"/>
          <p:cNvSpPr>
            <a:spLocks noGrp="1"/>
          </p:cNvSpPr>
          <p:nvPr>
            <p:ph type="ftr" sz="quarter" idx="11"/>
          </p:nvPr>
        </p:nvSpPr>
        <p:spPr/>
        <p:txBody>
          <a:bodyPr/>
          <a:lstStyle/>
          <a:p>
            <a:r>
              <a:rPr lang="de-DE" dirty="0"/>
              <a:t>PHP-&gt; Webserver -&gt; Datenbank </a:t>
            </a:r>
            <a:r>
              <a:rPr lang="de-DE" dirty="0">
                <a:sym typeface="Wingdings" panose="05000000000000000000" pitchFamily="2" charset="2"/>
              </a:rPr>
              <a:t> XAMPP</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pic>
        <p:nvPicPr>
          <p:cNvPr id="12" name="Grafik 11" descr="Ein Bild, das Text enthält.&#10;&#10;Automatisch generierte Beschreibung">
            <a:extLst>
              <a:ext uri="{FF2B5EF4-FFF2-40B4-BE49-F238E27FC236}">
                <a16:creationId xmlns:a16="http://schemas.microsoft.com/office/drawing/2014/main" id="{88532F29-4F81-A155-BF07-BFA884CBF68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66089" y="8626"/>
            <a:ext cx="1308659" cy="897147"/>
          </a:xfrm>
          <a:prstGeom prst="rect">
            <a:avLst/>
          </a:prstGeom>
        </p:spPr>
      </p:pic>
    </p:spTree>
    <p:extLst>
      <p:ext uri="{BB962C8B-B14F-4D97-AF65-F5344CB8AC3E}">
        <p14:creationId xmlns:p14="http://schemas.microsoft.com/office/powerpoint/2010/main" val="3118912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13.05.2022</a:t>
            </a:fld>
            <a:endParaRPr lang="de-DE"/>
          </a:p>
        </p:txBody>
      </p:sp>
      <p:sp>
        <p:nvSpPr>
          <p:cNvPr id="6" name="Fußzeilenplatzhalter 5"/>
          <p:cNvSpPr>
            <a:spLocks noGrp="1"/>
          </p:cNvSpPr>
          <p:nvPr>
            <p:ph type="ftr" sz="quarter" idx="11"/>
          </p:nvPr>
        </p:nvSpPr>
        <p:spPr/>
        <p:txBody>
          <a:bodyPr/>
          <a:lstStyle/>
          <a:p>
            <a:r>
              <a:rPr lang="de-DE" dirty="0"/>
              <a:t>PHP-&gt; Webserver -&gt; Datenbank </a:t>
            </a:r>
            <a:r>
              <a:rPr lang="de-DE" dirty="0">
                <a:sym typeface="Wingdings" panose="05000000000000000000" pitchFamily="2" charset="2"/>
              </a:rPr>
              <a:t> XAMPP</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506507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13.05.2022</a:t>
            </a:fld>
            <a:endParaRPr lang="de-DE"/>
          </a:p>
        </p:txBody>
      </p:sp>
      <p:sp>
        <p:nvSpPr>
          <p:cNvPr id="6" name="Fußzeilenplatzhalter 5"/>
          <p:cNvSpPr>
            <a:spLocks noGrp="1"/>
          </p:cNvSpPr>
          <p:nvPr>
            <p:ph type="ftr" sz="quarter" idx="11"/>
          </p:nvPr>
        </p:nvSpPr>
        <p:spPr/>
        <p:txBody>
          <a:bodyPr/>
          <a:lstStyle/>
          <a:p>
            <a:r>
              <a:rPr lang="de-DE" dirty="0"/>
              <a:t>PHP-&gt; Webserver -&gt; Datenbank </a:t>
            </a:r>
            <a:r>
              <a:rPr lang="de-DE" dirty="0">
                <a:sym typeface="Wingdings" panose="05000000000000000000" pitchFamily="2" charset="2"/>
              </a:rPr>
              <a:t> XAMPP</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184788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13.05.2022</a:t>
            </a:fld>
            <a:endParaRPr lang="de-DE"/>
          </a:p>
        </p:txBody>
      </p:sp>
      <p:sp>
        <p:nvSpPr>
          <p:cNvPr id="6" name="Fußzeilenplatzhalter 5"/>
          <p:cNvSpPr>
            <a:spLocks noGrp="1"/>
          </p:cNvSpPr>
          <p:nvPr>
            <p:ph type="ftr" sz="quarter" idx="11"/>
          </p:nvPr>
        </p:nvSpPr>
        <p:spPr/>
        <p:txBody>
          <a:bodyPr/>
          <a:lstStyle/>
          <a:p>
            <a:r>
              <a:rPr lang="de-DE" dirty="0"/>
              <a:t>PHP-&gt; Webserver -&gt; Datenbank </a:t>
            </a:r>
            <a:r>
              <a:rPr lang="de-DE" dirty="0">
                <a:sym typeface="Wingdings" panose="05000000000000000000" pitchFamily="2" charset="2"/>
              </a:rPr>
              <a:t> XAMPP</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1755065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13.05.2022</a:t>
            </a:fld>
            <a:endParaRPr lang="de-DE"/>
          </a:p>
        </p:txBody>
      </p:sp>
      <p:sp>
        <p:nvSpPr>
          <p:cNvPr id="6" name="Fußzeilenplatzhalter 5"/>
          <p:cNvSpPr>
            <a:spLocks noGrp="1"/>
          </p:cNvSpPr>
          <p:nvPr>
            <p:ph type="ftr" sz="quarter" idx="11"/>
          </p:nvPr>
        </p:nvSpPr>
        <p:spPr/>
        <p:txBody>
          <a:bodyPr/>
          <a:lstStyle/>
          <a:p>
            <a:r>
              <a:rPr lang="de-DE" dirty="0"/>
              <a:t>PHP-&gt; Webserver -&gt; Datenbank </a:t>
            </a:r>
            <a:r>
              <a:rPr lang="de-DE" dirty="0">
                <a:sym typeface="Wingdings" panose="05000000000000000000" pitchFamily="2" charset="2"/>
              </a:rPr>
              <a:t> XAMPP</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1882319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13.05.2022</a:t>
            </a:fld>
            <a:endParaRPr lang="de-DE"/>
          </a:p>
        </p:txBody>
      </p:sp>
      <p:sp>
        <p:nvSpPr>
          <p:cNvPr id="4" name="Fußzeilenplatzhalter 3"/>
          <p:cNvSpPr>
            <a:spLocks noGrp="1"/>
          </p:cNvSpPr>
          <p:nvPr>
            <p:ph type="ftr" sz="quarter" idx="11"/>
          </p:nvPr>
        </p:nvSpPr>
        <p:spPr/>
        <p:txBody>
          <a:bodyPr/>
          <a:lstStyle/>
          <a:p>
            <a:r>
              <a:rPr lang="de-DE" dirty="0"/>
              <a:t>PHP-&gt; Webserver -&gt; Datenbank </a:t>
            </a:r>
            <a:r>
              <a:rPr lang="de-DE" dirty="0">
                <a:sym typeface="Wingdings" panose="05000000000000000000" pitchFamily="2" charset="2"/>
              </a:rPr>
              <a:t> XAMPP</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pic>
        <p:nvPicPr>
          <p:cNvPr id="11" name="Grafik 10" descr="Ein Bild, das Text enthält.&#10;&#10;Automatisch generierte Beschreibung">
            <a:extLst>
              <a:ext uri="{FF2B5EF4-FFF2-40B4-BE49-F238E27FC236}">
                <a16:creationId xmlns:a16="http://schemas.microsoft.com/office/drawing/2014/main" id="{0119E674-93FC-8A7D-22C2-F4149614E11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66089" y="615040"/>
            <a:ext cx="1308659" cy="897147"/>
          </a:xfrm>
          <a:prstGeom prst="rect">
            <a:avLst/>
          </a:prstGeom>
        </p:spPr>
      </p:pic>
    </p:spTree>
    <p:extLst>
      <p:ext uri="{BB962C8B-B14F-4D97-AF65-F5344CB8AC3E}">
        <p14:creationId xmlns:p14="http://schemas.microsoft.com/office/powerpoint/2010/main" val="191520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13.05.2022</a:t>
            </a:fld>
            <a:endParaRPr lang="de-DE"/>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PHP-&gt; Webserver -&gt; Datenbank </a:t>
            </a:r>
            <a:r>
              <a:rPr lang="de-DE" dirty="0">
                <a:sym typeface="Wingdings" panose="05000000000000000000" pitchFamily="2" charset="2"/>
              </a:rPr>
              <a:t> XAMPP</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a:p>
        </p:txBody>
      </p:sp>
    </p:spTree>
    <p:extLst>
      <p:ext uri="{BB962C8B-B14F-4D97-AF65-F5344CB8AC3E}">
        <p14:creationId xmlns:p14="http://schemas.microsoft.com/office/powerpoint/2010/main" val="2372559298"/>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3" r:id="rId3"/>
    <p:sldLayoutId id="2147483654" r:id="rId4"/>
    <p:sldLayoutId id="2147483682" r:id="rId5"/>
    <p:sldLayoutId id="2147483683" r:id="rId6"/>
    <p:sldLayoutId id="2147483678" r:id="rId7"/>
    <p:sldLayoutId id="2147483679" r:id="rId8"/>
    <p:sldLayoutId id="2147483680" r:id="rId9"/>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000000"/>
          </p15:clr>
        </p15:guide>
        <p15:guide id="2" pos="211" userDrawn="1">
          <p15:clr>
            <a:srgbClr val="000000"/>
          </p15:clr>
        </p15:guide>
        <p15:guide id="3" orient="horz" pos="4320" userDrawn="1">
          <p15:clr>
            <a:srgbClr val="000000"/>
          </p15:clr>
        </p15:guide>
        <p15:guide id="4" orient="horz" pos="3974" userDrawn="1">
          <p15:clr>
            <a:srgbClr val="000000"/>
          </p15:clr>
        </p15:guide>
        <p15:guide id="5" pos="7673" userDrawn="1">
          <p15:clr>
            <a:srgbClr val="000000"/>
          </p15:clr>
        </p15:guide>
        <p15:guide id="6" pos="7469" userDrawn="1">
          <p15:clr>
            <a:srgbClr val="000000"/>
          </p15:clr>
        </p15:guide>
        <p15:guide id="7" orient="horz" userDrawn="1">
          <p15:clr>
            <a:srgbClr val="000000"/>
          </p15:clr>
        </p15:guide>
        <p15:guide id="8" orient="horz" pos="346" userDrawn="1">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afik 46" descr="Präsentation mit Checkliste">
            <a:extLst>
              <a:ext uri="{FF2B5EF4-FFF2-40B4-BE49-F238E27FC236}">
                <a16:creationId xmlns:a16="http://schemas.microsoft.com/office/drawing/2014/main" id="{45B54F59-429D-4CFF-859E-311E7A2B2C1C}"/>
              </a:ext>
            </a:extLst>
          </p:cNvPr>
          <p:cNvGrpSpPr/>
          <p:nvPr/>
        </p:nvGrpSpPr>
        <p:grpSpPr>
          <a:xfrm>
            <a:off x="77916" y="957826"/>
            <a:ext cx="4621663" cy="4621663"/>
            <a:chOff x="1328589" y="3740852"/>
            <a:chExt cx="652113" cy="652113"/>
          </a:xfrm>
          <a:solidFill>
            <a:schemeClr val="bg1"/>
          </a:solidFill>
        </p:grpSpPr>
        <p:sp>
          <p:nvSpPr>
            <p:cNvPr id="10" name="Freihandform: Form 123">
              <a:extLst>
                <a:ext uri="{FF2B5EF4-FFF2-40B4-BE49-F238E27FC236}">
                  <a16:creationId xmlns:a16="http://schemas.microsoft.com/office/drawing/2014/main" id="{D19406B6-2121-4DB0-BE56-6546B216E7A6}"/>
                </a:ext>
              </a:extLst>
            </p:cNvPr>
            <p:cNvSpPr/>
            <p:nvPr/>
          </p:nvSpPr>
          <p:spPr>
            <a:xfrm>
              <a:off x="1396517" y="3815573"/>
              <a:ext cx="516256" cy="509463"/>
            </a:xfrm>
            <a:custGeom>
              <a:avLst/>
              <a:gdLst>
                <a:gd name="connsiteX0" fmla="*/ 448328 w 516256"/>
                <a:gd name="connsiteY0" fmla="*/ 74721 h 509463"/>
                <a:gd name="connsiteX1" fmla="*/ 448328 w 516256"/>
                <a:gd name="connsiteY1" fmla="*/ 319264 h 509463"/>
                <a:gd name="connsiteX2" fmla="*/ 67928 w 516256"/>
                <a:gd name="connsiteY2" fmla="*/ 319264 h 509463"/>
                <a:gd name="connsiteX3" fmla="*/ 67928 w 516256"/>
                <a:gd name="connsiteY3" fmla="*/ 74721 h 509463"/>
                <a:gd name="connsiteX4" fmla="*/ 502670 w 516256"/>
                <a:gd name="connsiteY4" fmla="*/ 332849 h 509463"/>
                <a:gd name="connsiteX5" fmla="*/ 489085 w 516256"/>
                <a:gd name="connsiteY5" fmla="*/ 332849 h 509463"/>
                <a:gd name="connsiteX6" fmla="*/ 489085 w 516256"/>
                <a:gd name="connsiteY6" fmla="*/ 54343 h 509463"/>
                <a:gd name="connsiteX7" fmla="*/ 502670 w 516256"/>
                <a:gd name="connsiteY7" fmla="*/ 54343 h 509463"/>
                <a:gd name="connsiteX8" fmla="*/ 516256 w 516256"/>
                <a:gd name="connsiteY8" fmla="*/ 40757 h 509463"/>
                <a:gd name="connsiteX9" fmla="*/ 502670 w 516256"/>
                <a:gd name="connsiteY9" fmla="*/ 27171 h 509463"/>
                <a:gd name="connsiteX10" fmla="*/ 271714 w 516256"/>
                <a:gd name="connsiteY10" fmla="*/ 27171 h 509463"/>
                <a:gd name="connsiteX11" fmla="*/ 271714 w 516256"/>
                <a:gd name="connsiteY11" fmla="*/ 13586 h 509463"/>
                <a:gd name="connsiteX12" fmla="*/ 258128 w 516256"/>
                <a:gd name="connsiteY12" fmla="*/ 0 h 509463"/>
                <a:gd name="connsiteX13" fmla="*/ 244542 w 516256"/>
                <a:gd name="connsiteY13" fmla="*/ 13586 h 509463"/>
                <a:gd name="connsiteX14" fmla="*/ 244542 w 516256"/>
                <a:gd name="connsiteY14" fmla="*/ 27171 h 509463"/>
                <a:gd name="connsiteX15" fmla="*/ 13586 w 516256"/>
                <a:gd name="connsiteY15" fmla="*/ 27171 h 509463"/>
                <a:gd name="connsiteX16" fmla="*/ 0 w 516256"/>
                <a:gd name="connsiteY16" fmla="*/ 40757 h 509463"/>
                <a:gd name="connsiteX17" fmla="*/ 13586 w 516256"/>
                <a:gd name="connsiteY17" fmla="*/ 54343 h 509463"/>
                <a:gd name="connsiteX18" fmla="*/ 27171 w 516256"/>
                <a:gd name="connsiteY18" fmla="*/ 54343 h 509463"/>
                <a:gd name="connsiteX19" fmla="*/ 27171 w 516256"/>
                <a:gd name="connsiteY19" fmla="*/ 332849 h 509463"/>
                <a:gd name="connsiteX20" fmla="*/ 13586 w 516256"/>
                <a:gd name="connsiteY20" fmla="*/ 332849 h 509463"/>
                <a:gd name="connsiteX21" fmla="*/ 0 w 516256"/>
                <a:gd name="connsiteY21" fmla="*/ 346435 h 509463"/>
                <a:gd name="connsiteX22" fmla="*/ 13586 w 516256"/>
                <a:gd name="connsiteY22" fmla="*/ 360021 h 509463"/>
                <a:gd name="connsiteX23" fmla="*/ 221039 w 516256"/>
                <a:gd name="connsiteY23" fmla="*/ 360021 h 509463"/>
                <a:gd name="connsiteX24" fmla="*/ 116429 w 516256"/>
                <a:gd name="connsiteY24" fmla="*/ 464631 h 509463"/>
                <a:gd name="connsiteX25" fmla="*/ 116531 w 516256"/>
                <a:gd name="connsiteY25" fmla="*/ 483956 h 509463"/>
                <a:gd name="connsiteX26" fmla="*/ 135857 w 516256"/>
                <a:gd name="connsiteY26" fmla="*/ 483854 h 509463"/>
                <a:gd name="connsiteX27" fmla="*/ 244542 w 516256"/>
                <a:gd name="connsiteY27" fmla="*/ 375169 h 509463"/>
                <a:gd name="connsiteX28" fmla="*/ 244542 w 516256"/>
                <a:gd name="connsiteY28" fmla="*/ 495878 h 509463"/>
                <a:gd name="connsiteX29" fmla="*/ 258128 w 516256"/>
                <a:gd name="connsiteY29" fmla="*/ 509463 h 509463"/>
                <a:gd name="connsiteX30" fmla="*/ 271714 w 516256"/>
                <a:gd name="connsiteY30" fmla="*/ 495878 h 509463"/>
                <a:gd name="connsiteX31" fmla="*/ 271714 w 516256"/>
                <a:gd name="connsiteY31" fmla="*/ 374965 h 509463"/>
                <a:gd name="connsiteX32" fmla="*/ 380399 w 516256"/>
                <a:gd name="connsiteY32" fmla="*/ 483650 h 509463"/>
                <a:gd name="connsiteX33" fmla="*/ 399623 w 516256"/>
                <a:gd name="connsiteY33" fmla="*/ 483650 h 509463"/>
                <a:gd name="connsiteX34" fmla="*/ 399623 w 516256"/>
                <a:gd name="connsiteY34" fmla="*/ 464427 h 509463"/>
                <a:gd name="connsiteX35" fmla="*/ 295217 w 516256"/>
                <a:gd name="connsiteY35" fmla="*/ 360021 h 509463"/>
                <a:gd name="connsiteX36" fmla="*/ 502670 w 516256"/>
                <a:gd name="connsiteY36" fmla="*/ 360021 h 509463"/>
                <a:gd name="connsiteX37" fmla="*/ 516256 w 516256"/>
                <a:gd name="connsiteY37" fmla="*/ 346435 h 509463"/>
                <a:gd name="connsiteX38" fmla="*/ 502670 w 516256"/>
                <a:gd name="connsiteY38" fmla="*/ 332849 h 50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16256" h="509463">
                  <a:moveTo>
                    <a:pt x="448328" y="74721"/>
                  </a:moveTo>
                  <a:lnTo>
                    <a:pt x="448328" y="319264"/>
                  </a:lnTo>
                  <a:lnTo>
                    <a:pt x="67928" y="319264"/>
                  </a:lnTo>
                  <a:lnTo>
                    <a:pt x="67928" y="74721"/>
                  </a:lnTo>
                  <a:close/>
                  <a:moveTo>
                    <a:pt x="502670" y="332849"/>
                  </a:moveTo>
                  <a:lnTo>
                    <a:pt x="489085" y="332849"/>
                  </a:lnTo>
                  <a:lnTo>
                    <a:pt x="489085" y="54343"/>
                  </a:lnTo>
                  <a:lnTo>
                    <a:pt x="502670" y="54343"/>
                  </a:lnTo>
                  <a:cubicBezTo>
                    <a:pt x="510174" y="54343"/>
                    <a:pt x="516256" y="48260"/>
                    <a:pt x="516256" y="40757"/>
                  </a:cubicBezTo>
                  <a:cubicBezTo>
                    <a:pt x="516256" y="33254"/>
                    <a:pt x="510174" y="27171"/>
                    <a:pt x="502670" y="27171"/>
                  </a:cubicBezTo>
                  <a:lnTo>
                    <a:pt x="271714" y="27171"/>
                  </a:lnTo>
                  <a:lnTo>
                    <a:pt x="271714" y="13586"/>
                  </a:lnTo>
                  <a:cubicBezTo>
                    <a:pt x="271714" y="6082"/>
                    <a:pt x="265631" y="0"/>
                    <a:pt x="258128" y="0"/>
                  </a:cubicBezTo>
                  <a:cubicBezTo>
                    <a:pt x="250625" y="0"/>
                    <a:pt x="244542" y="6082"/>
                    <a:pt x="244542" y="13586"/>
                  </a:cubicBezTo>
                  <a:lnTo>
                    <a:pt x="244542" y="27171"/>
                  </a:lnTo>
                  <a:lnTo>
                    <a:pt x="13586" y="27171"/>
                  </a:lnTo>
                  <a:cubicBezTo>
                    <a:pt x="6082" y="27171"/>
                    <a:pt x="0" y="33254"/>
                    <a:pt x="0" y="40757"/>
                  </a:cubicBezTo>
                  <a:cubicBezTo>
                    <a:pt x="0" y="48260"/>
                    <a:pt x="6082" y="54343"/>
                    <a:pt x="13586" y="54343"/>
                  </a:cubicBezTo>
                  <a:lnTo>
                    <a:pt x="27171" y="54343"/>
                  </a:lnTo>
                  <a:lnTo>
                    <a:pt x="27171" y="332849"/>
                  </a:lnTo>
                  <a:lnTo>
                    <a:pt x="13586" y="332849"/>
                  </a:lnTo>
                  <a:cubicBezTo>
                    <a:pt x="6082" y="332849"/>
                    <a:pt x="0" y="338932"/>
                    <a:pt x="0" y="346435"/>
                  </a:cubicBezTo>
                  <a:cubicBezTo>
                    <a:pt x="0" y="353938"/>
                    <a:pt x="6082" y="360021"/>
                    <a:pt x="13586" y="360021"/>
                  </a:cubicBezTo>
                  <a:lnTo>
                    <a:pt x="221039" y="360021"/>
                  </a:lnTo>
                  <a:lnTo>
                    <a:pt x="116429" y="464631"/>
                  </a:lnTo>
                  <a:cubicBezTo>
                    <a:pt x="111121" y="469995"/>
                    <a:pt x="111166" y="478648"/>
                    <a:pt x="116531" y="483956"/>
                  </a:cubicBezTo>
                  <a:cubicBezTo>
                    <a:pt x="121896" y="489265"/>
                    <a:pt x="130548" y="489219"/>
                    <a:pt x="135857" y="483854"/>
                  </a:cubicBezTo>
                  <a:lnTo>
                    <a:pt x="244542" y="375169"/>
                  </a:lnTo>
                  <a:lnTo>
                    <a:pt x="244542" y="495878"/>
                  </a:lnTo>
                  <a:cubicBezTo>
                    <a:pt x="244542" y="503381"/>
                    <a:pt x="250625" y="509463"/>
                    <a:pt x="258128" y="509463"/>
                  </a:cubicBezTo>
                  <a:cubicBezTo>
                    <a:pt x="265631" y="509463"/>
                    <a:pt x="271714" y="503381"/>
                    <a:pt x="271714" y="495878"/>
                  </a:cubicBezTo>
                  <a:lnTo>
                    <a:pt x="271714" y="374965"/>
                  </a:lnTo>
                  <a:lnTo>
                    <a:pt x="380399" y="483650"/>
                  </a:lnTo>
                  <a:cubicBezTo>
                    <a:pt x="385708" y="488959"/>
                    <a:pt x="394314" y="488959"/>
                    <a:pt x="399623" y="483650"/>
                  </a:cubicBezTo>
                  <a:cubicBezTo>
                    <a:pt x="404932" y="478342"/>
                    <a:pt x="404932" y="469735"/>
                    <a:pt x="399623" y="464427"/>
                  </a:cubicBezTo>
                  <a:lnTo>
                    <a:pt x="295217" y="360021"/>
                  </a:lnTo>
                  <a:lnTo>
                    <a:pt x="502670" y="360021"/>
                  </a:lnTo>
                  <a:cubicBezTo>
                    <a:pt x="510174" y="360021"/>
                    <a:pt x="516256" y="353938"/>
                    <a:pt x="516256" y="346435"/>
                  </a:cubicBezTo>
                  <a:cubicBezTo>
                    <a:pt x="516256" y="338932"/>
                    <a:pt x="510174" y="332849"/>
                    <a:pt x="502670" y="332849"/>
                  </a:cubicBezTo>
                  <a:close/>
                </a:path>
              </a:pathLst>
            </a:custGeom>
            <a:grpFill/>
            <a:ln w="6747" cap="flat">
              <a:noFill/>
              <a:prstDash val="solid"/>
              <a:miter/>
            </a:ln>
          </p:spPr>
          <p:txBody>
            <a:bodyPr rtlCol="0" anchor="ctr"/>
            <a:lstStyle/>
            <a:p>
              <a:endParaRPr lang="de-DE"/>
            </a:p>
          </p:txBody>
        </p:sp>
        <p:sp>
          <p:nvSpPr>
            <p:cNvPr id="11" name="Freihandform: Form 124">
              <a:extLst>
                <a:ext uri="{FF2B5EF4-FFF2-40B4-BE49-F238E27FC236}">
                  <a16:creationId xmlns:a16="http://schemas.microsoft.com/office/drawing/2014/main" id="{06CD1F0B-082F-40CD-8202-83B298DDB798}"/>
                </a:ext>
              </a:extLst>
            </p:cNvPr>
            <p:cNvSpPr/>
            <p:nvPr/>
          </p:nvSpPr>
          <p:spPr>
            <a:xfrm>
              <a:off x="1661438" y="3951430"/>
              <a:ext cx="115478" cy="27171"/>
            </a:xfrm>
            <a:custGeom>
              <a:avLst/>
              <a:gdLst>
                <a:gd name="connsiteX0" fmla="*/ 0 w 115478"/>
                <a:gd name="connsiteY0" fmla="*/ 0 h 27171"/>
                <a:gd name="connsiteX1" fmla="*/ 115478 w 115478"/>
                <a:gd name="connsiteY1" fmla="*/ 0 h 27171"/>
                <a:gd name="connsiteX2" fmla="*/ 115478 w 115478"/>
                <a:gd name="connsiteY2" fmla="*/ 27171 h 27171"/>
                <a:gd name="connsiteX3" fmla="*/ 0 w 115478"/>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15478" h="27171">
                  <a:moveTo>
                    <a:pt x="0" y="0"/>
                  </a:moveTo>
                  <a:lnTo>
                    <a:pt x="115478" y="0"/>
                  </a:lnTo>
                  <a:lnTo>
                    <a:pt x="115478" y="27171"/>
                  </a:lnTo>
                  <a:lnTo>
                    <a:pt x="0" y="27171"/>
                  </a:lnTo>
                  <a:close/>
                </a:path>
              </a:pathLst>
            </a:custGeom>
            <a:grpFill/>
            <a:ln w="6747" cap="flat">
              <a:noFill/>
              <a:prstDash val="solid"/>
              <a:miter/>
            </a:ln>
          </p:spPr>
          <p:txBody>
            <a:bodyPr rtlCol="0" anchor="ctr"/>
            <a:lstStyle/>
            <a:p>
              <a:endParaRPr lang="de-DE"/>
            </a:p>
          </p:txBody>
        </p:sp>
        <p:sp>
          <p:nvSpPr>
            <p:cNvPr id="12" name="Freihandform: Form 125">
              <a:extLst>
                <a:ext uri="{FF2B5EF4-FFF2-40B4-BE49-F238E27FC236}">
                  <a16:creationId xmlns:a16="http://schemas.microsoft.com/office/drawing/2014/main" id="{8E6FCA68-54A4-42EB-91A0-B7F3E154E018}"/>
                </a:ext>
              </a:extLst>
            </p:cNvPr>
            <p:cNvSpPr/>
            <p:nvPr/>
          </p:nvSpPr>
          <p:spPr>
            <a:xfrm>
              <a:off x="1518788" y="3922900"/>
              <a:ext cx="100534" cy="82872"/>
            </a:xfrm>
            <a:custGeom>
              <a:avLst/>
              <a:gdLst>
                <a:gd name="connsiteX0" fmla="*/ 100534 w 100534"/>
                <a:gd name="connsiteY0" fmla="*/ 19020 h 82872"/>
                <a:gd name="connsiteX1" fmla="*/ 81514 w 100534"/>
                <a:gd name="connsiteY1" fmla="*/ 0 h 82872"/>
                <a:gd name="connsiteX2" fmla="*/ 36681 w 100534"/>
                <a:gd name="connsiteY2" fmla="*/ 44833 h 82872"/>
                <a:gd name="connsiteX3" fmla="*/ 19020 w 100534"/>
                <a:gd name="connsiteY3" fmla="*/ 27171 h 82872"/>
                <a:gd name="connsiteX4" fmla="*/ 0 w 100534"/>
                <a:gd name="connsiteY4" fmla="*/ 46191 h 82872"/>
                <a:gd name="connsiteX5" fmla="*/ 36681 w 100534"/>
                <a:gd name="connsiteY5" fmla="*/ 82873 h 82872"/>
                <a:gd name="connsiteX6" fmla="*/ 100534 w 100534"/>
                <a:gd name="connsiteY6" fmla="*/ 19020 h 8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34" h="82872">
                  <a:moveTo>
                    <a:pt x="100534" y="19020"/>
                  </a:moveTo>
                  <a:lnTo>
                    <a:pt x="81514" y="0"/>
                  </a:lnTo>
                  <a:lnTo>
                    <a:pt x="36681" y="44833"/>
                  </a:lnTo>
                  <a:lnTo>
                    <a:pt x="19020" y="27171"/>
                  </a:lnTo>
                  <a:lnTo>
                    <a:pt x="0" y="46191"/>
                  </a:lnTo>
                  <a:lnTo>
                    <a:pt x="36681" y="82873"/>
                  </a:lnTo>
                  <a:lnTo>
                    <a:pt x="100534" y="19020"/>
                  </a:lnTo>
                  <a:close/>
                </a:path>
              </a:pathLst>
            </a:custGeom>
            <a:grpFill/>
            <a:ln w="6747" cap="flat">
              <a:noFill/>
              <a:prstDash val="solid"/>
              <a:miter/>
            </a:ln>
          </p:spPr>
          <p:txBody>
            <a:bodyPr rtlCol="0" anchor="ctr"/>
            <a:lstStyle/>
            <a:p>
              <a:endParaRPr lang="de-DE"/>
            </a:p>
          </p:txBody>
        </p:sp>
        <p:sp>
          <p:nvSpPr>
            <p:cNvPr id="13" name="Freihandform: Form 126">
              <a:extLst>
                <a:ext uri="{FF2B5EF4-FFF2-40B4-BE49-F238E27FC236}">
                  <a16:creationId xmlns:a16="http://schemas.microsoft.com/office/drawing/2014/main" id="{73FDF44F-0908-481E-AD6D-E88FD18AC8CF}"/>
                </a:ext>
              </a:extLst>
            </p:cNvPr>
            <p:cNvSpPr/>
            <p:nvPr/>
          </p:nvSpPr>
          <p:spPr>
            <a:xfrm>
              <a:off x="1661438" y="4039737"/>
              <a:ext cx="115478" cy="27171"/>
            </a:xfrm>
            <a:custGeom>
              <a:avLst/>
              <a:gdLst>
                <a:gd name="connsiteX0" fmla="*/ 0 w 115478"/>
                <a:gd name="connsiteY0" fmla="*/ 0 h 27171"/>
                <a:gd name="connsiteX1" fmla="*/ 115478 w 115478"/>
                <a:gd name="connsiteY1" fmla="*/ 0 h 27171"/>
                <a:gd name="connsiteX2" fmla="*/ 115478 w 115478"/>
                <a:gd name="connsiteY2" fmla="*/ 27171 h 27171"/>
                <a:gd name="connsiteX3" fmla="*/ 0 w 115478"/>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15478" h="27171">
                  <a:moveTo>
                    <a:pt x="0" y="0"/>
                  </a:moveTo>
                  <a:lnTo>
                    <a:pt x="115478" y="0"/>
                  </a:lnTo>
                  <a:lnTo>
                    <a:pt x="115478" y="27171"/>
                  </a:lnTo>
                  <a:lnTo>
                    <a:pt x="0" y="27171"/>
                  </a:lnTo>
                  <a:close/>
                </a:path>
              </a:pathLst>
            </a:custGeom>
            <a:grpFill/>
            <a:ln w="6747" cap="flat">
              <a:noFill/>
              <a:prstDash val="solid"/>
              <a:miter/>
            </a:ln>
          </p:spPr>
          <p:txBody>
            <a:bodyPr rtlCol="0" anchor="ctr"/>
            <a:lstStyle/>
            <a:p>
              <a:endParaRPr lang="de-DE"/>
            </a:p>
          </p:txBody>
        </p:sp>
        <p:sp>
          <p:nvSpPr>
            <p:cNvPr id="14" name="Freihandform: Form 127">
              <a:extLst>
                <a:ext uri="{FF2B5EF4-FFF2-40B4-BE49-F238E27FC236}">
                  <a16:creationId xmlns:a16="http://schemas.microsoft.com/office/drawing/2014/main" id="{1DA088DD-CF86-4F4E-A09C-18609508C746}"/>
                </a:ext>
              </a:extLst>
            </p:cNvPr>
            <p:cNvSpPr/>
            <p:nvPr/>
          </p:nvSpPr>
          <p:spPr>
            <a:xfrm>
              <a:off x="1518788" y="4011207"/>
              <a:ext cx="100534" cy="82872"/>
            </a:xfrm>
            <a:custGeom>
              <a:avLst/>
              <a:gdLst>
                <a:gd name="connsiteX0" fmla="*/ 100534 w 100534"/>
                <a:gd name="connsiteY0" fmla="*/ 19020 h 82872"/>
                <a:gd name="connsiteX1" fmla="*/ 81514 w 100534"/>
                <a:gd name="connsiteY1" fmla="*/ 0 h 82872"/>
                <a:gd name="connsiteX2" fmla="*/ 36681 w 100534"/>
                <a:gd name="connsiteY2" fmla="*/ 44833 h 82872"/>
                <a:gd name="connsiteX3" fmla="*/ 19020 w 100534"/>
                <a:gd name="connsiteY3" fmla="*/ 27171 h 82872"/>
                <a:gd name="connsiteX4" fmla="*/ 0 w 100534"/>
                <a:gd name="connsiteY4" fmla="*/ 46191 h 82872"/>
                <a:gd name="connsiteX5" fmla="*/ 36681 w 100534"/>
                <a:gd name="connsiteY5" fmla="*/ 82873 h 82872"/>
                <a:gd name="connsiteX6" fmla="*/ 100534 w 100534"/>
                <a:gd name="connsiteY6" fmla="*/ 19020 h 8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34" h="82872">
                  <a:moveTo>
                    <a:pt x="100534" y="19020"/>
                  </a:moveTo>
                  <a:lnTo>
                    <a:pt x="81514" y="0"/>
                  </a:lnTo>
                  <a:lnTo>
                    <a:pt x="36681" y="44833"/>
                  </a:lnTo>
                  <a:lnTo>
                    <a:pt x="19020" y="27171"/>
                  </a:lnTo>
                  <a:lnTo>
                    <a:pt x="0" y="46191"/>
                  </a:lnTo>
                  <a:lnTo>
                    <a:pt x="36681" y="82873"/>
                  </a:lnTo>
                  <a:lnTo>
                    <a:pt x="100534" y="19020"/>
                  </a:lnTo>
                  <a:close/>
                </a:path>
              </a:pathLst>
            </a:custGeom>
            <a:grpFill/>
            <a:ln w="6747" cap="flat">
              <a:noFill/>
              <a:prstDash val="solid"/>
              <a:miter/>
            </a:ln>
          </p:spPr>
          <p:txBody>
            <a:bodyPr rtlCol="0" anchor="ctr"/>
            <a:lstStyle/>
            <a:p>
              <a:endParaRPr lang="de-DE"/>
            </a:p>
          </p:txBody>
        </p:sp>
      </p:grpSp>
      <p:sp>
        <p:nvSpPr>
          <p:cNvPr id="4" name="Datumsplatzhalter 3"/>
          <p:cNvSpPr>
            <a:spLocks noGrp="1"/>
          </p:cNvSpPr>
          <p:nvPr>
            <p:ph type="dt" sz="half" idx="10"/>
          </p:nvPr>
        </p:nvSpPr>
        <p:spPr/>
        <p:txBody>
          <a:bodyPr/>
          <a:lstStyle/>
          <a:p>
            <a:fld id="{F9982FD9-EA1D-4CED-8AA3-951552B0E4B9}" type="datetime1">
              <a:rPr lang="de-DE" smtClean="0"/>
              <a:t>13.05.2022</a:t>
            </a:fld>
            <a:endParaRPr lang="de-DE"/>
          </a:p>
        </p:txBody>
      </p:sp>
      <p:sp>
        <p:nvSpPr>
          <p:cNvPr id="6" name="Foliennummernplatzhalter 5"/>
          <p:cNvSpPr>
            <a:spLocks noGrp="1"/>
          </p:cNvSpPr>
          <p:nvPr>
            <p:ph type="sldNum" sz="quarter" idx="12"/>
          </p:nvPr>
        </p:nvSpPr>
        <p:spPr/>
        <p:txBody>
          <a:bodyPr/>
          <a:lstStyle/>
          <a:p>
            <a:fld id="{220551C3-A462-45EE-8D4B-53AADAADD6D4}" type="slidenum">
              <a:rPr lang="de-DE" smtClean="0"/>
              <a:t>1</a:t>
            </a:fld>
            <a:endParaRPr lang="de-DE"/>
          </a:p>
        </p:txBody>
      </p:sp>
      <p:sp>
        <p:nvSpPr>
          <p:cNvPr id="7" name="Grafik 20" descr="Bücher">
            <a:extLst>
              <a:ext uri="{FF2B5EF4-FFF2-40B4-BE49-F238E27FC236}">
                <a16:creationId xmlns:a16="http://schemas.microsoft.com/office/drawing/2014/main" id="{43D00B49-42D5-4163-8350-6A7AE38C9954}"/>
              </a:ext>
            </a:extLst>
          </p:cNvPr>
          <p:cNvSpPr/>
          <p:nvPr/>
        </p:nvSpPr>
        <p:spPr>
          <a:xfrm>
            <a:off x="10877258" y="5267628"/>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endParaRPr lang="de-DE"/>
          </a:p>
        </p:txBody>
      </p:sp>
      <p:sp>
        <p:nvSpPr>
          <p:cNvPr id="17" name="Titel 1"/>
          <p:cNvSpPr>
            <a:spLocks noGrp="1"/>
          </p:cNvSpPr>
          <p:nvPr>
            <p:ph type="ctrTitle"/>
          </p:nvPr>
        </p:nvSpPr>
        <p:spPr>
          <a:xfrm>
            <a:off x="1782150" y="1489148"/>
            <a:ext cx="8625153" cy="877833"/>
          </a:xfrm>
        </p:spPr>
        <p:txBody>
          <a:bodyPr>
            <a:normAutofit/>
          </a:bodyPr>
          <a:lstStyle/>
          <a:p>
            <a:r>
              <a:rPr lang="de-DE" sz="4800" dirty="0">
                <a:effectLst>
                  <a:outerShdw blurRad="38100" dist="38100" dir="2700000" algn="tl">
                    <a:srgbClr val="000000">
                      <a:alpha val="43137"/>
                    </a:srgbClr>
                  </a:outerShdw>
                </a:effectLst>
                <a:cs typeface="Arial" panose="020B0604020202020204" pitchFamily="34" charset="0"/>
              </a:rPr>
              <a:t>Webprogrammierung 2</a:t>
            </a:r>
            <a:endParaRPr lang="de-DE" sz="4800" dirty="0"/>
          </a:p>
        </p:txBody>
      </p:sp>
      <p:sp>
        <p:nvSpPr>
          <p:cNvPr id="18" name="Untertitel 2"/>
          <p:cNvSpPr>
            <a:spLocks noGrp="1"/>
          </p:cNvSpPr>
          <p:nvPr>
            <p:ph type="subTitle" idx="1"/>
          </p:nvPr>
        </p:nvSpPr>
        <p:spPr>
          <a:xfrm>
            <a:off x="1783133" y="2608441"/>
            <a:ext cx="8624170" cy="700592"/>
          </a:xfrm>
        </p:spPr>
        <p:txBody>
          <a:bodyPr/>
          <a:lstStyle/>
          <a:p>
            <a:r>
              <a:rPr lang="de-DE" sz="2800" b="1" i="1" dirty="0">
                <a:effectLst>
                  <a:outerShdw blurRad="38100" dist="38100" dir="2700000" algn="tl">
                    <a:srgbClr val="000000">
                      <a:alpha val="43137"/>
                    </a:srgbClr>
                  </a:outerShdw>
                </a:effectLst>
                <a:latin typeface="+mj-lt"/>
                <a:cs typeface="Arial" panose="020B0604020202020204" pitchFamily="34" charset="0"/>
              </a:rPr>
              <a:t>Funktionen und Parameter</a:t>
            </a:r>
            <a:endParaRPr lang="de-DE" sz="2800" b="1" i="1" u="sng" dirty="0">
              <a:effectLst>
                <a:outerShdw blurRad="38100" dist="38100" dir="2700000" algn="tl">
                  <a:srgbClr val="000000">
                    <a:alpha val="43137"/>
                  </a:srgbClr>
                </a:outerShdw>
              </a:effectLst>
              <a:latin typeface="+mj-lt"/>
              <a:cs typeface="Arial" panose="020B0604020202020204" pitchFamily="34" charset="0"/>
            </a:endParaRPr>
          </a:p>
        </p:txBody>
      </p:sp>
      <p:sp>
        <p:nvSpPr>
          <p:cNvPr id="15" name="Fußzeilenplatzhalter 4">
            <a:extLst>
              <a:ext uri="{FF2B5EF4-FFF2-40B4-BE49-F238E27FC236}">
                <a16:creationId xmlns:a16="http://schemas.microsoft.com/office/drawing/2014/main" id="{6715831E-C523-89B3-31DA-9411B2F5E647}"/>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Tree>
    <p:extLst>
      <p:ext uri="{BB962C8B-B14F-4D97-AF65-F5344CB8AC3E}">
        <p14:creationId xmlns:p14="http://schemas.microsoft.com/office/powerpoint/2010/main" val="314895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11EC756F-2319-4B99-8DC3-A0507E82FF17}" type="datetime1">
              <a:rPr lang="de-DE" smtClean="0"/>
              <a:t>13.05.2022</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2</a:t>
            </a:fld>
            <a:endParaRPr lang="de-DE" dirty="0"/>
          </a:p>
        </p:txBody>
      </p:sp>
      <p:sp>
        <p:nvSpPr>
          <p:cNvPr id="51" name="Textplatzhalter 50"/>
          <p:cNvSpPr>
            <a:spLocks noGrp="1"/>
          </p:cNvSpPr>
          <p:nvPr>
            <p:ph type="body" sz="quarter" idx="13"/>
          </p:nvPr>
        </p:nvSpPr>
        <p:spPr>
          <a:xfrm>
            <a:off x="136004" y="2119168"/>
            <a:ext cx="2149475" cy="706356"/>
          </a:xfrm>
        </p:spPr>
        <p:txBody>
          <a:bodyPr>
            <a:normAutofit lnSpcReduction="10000"/>
          </a:bodyPr>
          <a:lstStyle/>
          <a:p>
            <a:r>
              <a:rPr lang="de-DE" dirty="0"/>
              <a:t>01</a:t>
            </a:r>
          </a:p>
        </p:txBody>
      </p:sp>
      <p:sp>
        <p:nvSpPr>
          <p:cNvPr id="52" name="Textplatzhalter 51"/>
          <p:cNvSpPr>
            <a:spLocks noGrp="1"/>
          </p:cNvSpPr>
          <p:nvPr>
            <p:ph type="body" sz="quarter" idx="14"/>
          </p:nvPr>
        </p:nvSpPr>
        <p:spPr>
          <a:xfrm>
            <a:off x="136003" y="2879856"/>
            <a:ext cx="2148623" cy="423045"/>
          </a:xfrm>
        </p:spPr>
        <p:txBody>
          <a:bodyPr>
            <a:normAutofit/>
          </a:bodyPr>
          <a:lstStyle/>
          <a:p>
            <a:r>
              <a:rPr lang="de-DE" dirty="0"/>
              <a:t>Funktionen</a:t>
            </a:r>
          </a:p>
        </p:txBody>
      </p:sp>
      <p:sp>
        <p:nvSpPr>
          <p:cNvPr id="66" name="Titel 65"/>
          <p:cNvSpPr>
            <a:spLocks noGrp="1"/>
          </p:cNvSpPr>
          <p:nvPr>
            <p:ph type="title"/>
          </p:nvPr>
        </p:nvSpPr>
        <p:spPr/>
        <p:txBody>
          <a:bodyPr>
            <a:normAutofit fontScale="90000"/>
          </a:bodyPr>
          <a:lstStyle/>
          <a:p>
            <a:r>
              <a:rPr lang="de-DE" dirty="0"/>
              <a:t>Themenübersicht</a:t>
            </a:r>
          </a:p>
        </p:txBody>
      </p:sp>
      <p:grpSp>
        <p:nvGrpSpPr>
          <p:cNvPr id="21" name="Grafik 58" descr="Liste">
            <a:extLst>
              <a:ext uri="{FF2B5EF4-FFF2-40B4-BE49-F238E27FC236}">
                <a16:creationId xmlns:a16="http://schemas.microsoft.com/office/drawing/2014/main" id="{547CCC1F-DBD8-4611-A9E2-BACF5D8BB224}"/>
              </a:ext>
            </a:extLst>
          </p:cNvPr>
          <p:cNvGrpSpPr/>
          <p:nvPr/>
        </p:nvGrpSpPr>
        <p:grpSpPr>
          <a:xfrm>
            <a:off x="10907083" y="1843634"/>
            <a:ext cx="1273805" cy="1273805"/>
            <a:chOff x="2281159" y="4358168"/>
            <a:chExt cx="652113" cy="652113"/>
          </a:xfrm>
          <a:solidFill>
            <a:srgbClr val="0071B2"/>
          </a:solidFill>
        </p:grpSpPr>
        <p:sp>
          <p:nvSpPr>
            <p:cNvPr id="22" name="Freihandform: Form 145">
              <a:extLst>
                <a:ext uri="{FF2B5EF4-FFF2-40B4-BE49-F238E27FC236}">
                  <a16:creationId xmlns:a16="http://schemas.microsoft.com/office/drawing/2014/main" id="{6664AC2F-405B-4FC0-81DE-E00A017650CA}"/>
                </a:ext>
              </a:extLst>
            </p:cNvPr>
            <p:cNvSpPr/>
            <p:nvPr/>
          </p:nvSpPr>
          <p:spPr>
            <a:xfrm>
              <a:off x="2396637" y="4412510"/>
              <a:ext cx="421156" cy="543427"/>
            </a:xfrm>
            <a:custGeom>
              <a:avLst/>
              <a:gdLst>
                <a:gd name="connsiteX0" fmla="*/ 40757 w 421156"/>
                <a:gd name="connsiteY0" fmla="*/ 40757 h 543427"/>
                <a:gd name="connsiteX1" fmla="*/ 380399 w 421156"/>
                <a:gd name="connsiteY1" fmla="*/ 40757 h 543427"/>
                <a:gd name="connsiteX2" fmla="*/ 380399 w 421156"/>
                <a:gd name="connsiteY2" fmla="*/ 502670 h 543427"/>
                <a:gd name="connsiteX3" fmla="*/ 40757 w 421156"/>
                <a:gd name="connsiteY3" fmla="*/ 502670 h 543427"/>
                <a:gd name="connsiteX4" fmla="*/ 40757 w 421156"/>
                <a:gd name="connsiteY4" fmla="*/ 40757 h 543427"/>
                <a:gd name="connsiteX5" fmla="*/ 0 w 421156"/>
                <a:gd name="connsiteY5" fmla="*/ 543428 h 543427"/>
                <a:gd name="connsiteX6" fmla="*/ 421156 w 421156"/>
                <a:gd name="connsiteY6" fmla="*/ 543428 h 543427"/>
                <a:gd name="connsiteX7" fmla="*/ 421156 w 421156"/>
                <a:gd name="connsiteY7" fmla="*/ 0 h 543427"/>
                <a:gd name="connsiteX8" fmla="*/ 0 w 421156"/>
                <a:gd name="connsiteY8" fmla="*/ 0 h 543427"/>
                <a:gd name="connsiteX9" fmla="*/ 0 w 421156"/>
                <a:gd name="connsiteY9" fmla="*/ 543428 h 543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1156" h="543427">
                  <a:moveTo>
                    <a:pt x="40757" y="40757"/>
                  </a:moveTo>
                  <a:lnTo>
                    <a:pt x="380399" y="40757"/>
                  </a:lnTo>
                  <a:lnTo>
                    <a:pt x="380399" y="502670"/>
                  </a:lnTo>
                  <a:lnTo>
                    <a:pt x="40757" y="502670"/>
                  </a:lnTo>
                  <a:lnTo>
                    <a:pt x="40757" y="40757"/>
                  </a:lnTo>
                  <a:close/>
                  <a:moveTo>
                    <a:pt x="0" y="543428"/>
                  </a:moveTo>
                  <a:lnTo>
                    <a:pt x="421156" y="543428"/>
                  </a:lnTo>
                  <a:lnTo>
                    <a:pt x="421156" y="0"/>
                  </a:lnTo>
                  <a:lnTo>
                    <a:pt x="0" y="0"/>
                  </a:lnTo>
                  <a:lnTo>
                    <a:pt x="0" y="543428"/>
                  </a:lnTo>
                  <a:close/>
                </a:path>
              </a:pathLst>
            </a:custGeom>
            <a:grpFill/>
            <a:ln w="6747" cap="flat">
              <a:noFill/>
              <a:prstDash val="solid"/>
              <a:miter/>
            </a:ln>
          </p:spPr>
          <p:txBody>
            <a:bodyPr rtlCol="0" anchor="ctr"/>
            <a:lstStyle/>
            <a:p>
              <a:endParaRPr lang="de-DE" dirty="0"/>
            </a:p>
          </p:txBody>
        </p:sp>
        <p:sp>
          <p:nvSpPr>
            <p:cNvPr id="23" name="Freihandform: Form 146">
              <a:extLst>
                <a:ext uri="{FF2B5EF4-FFF2-40B4-BE49-F238E27FC236}">
                  <a16:creationId xmlns:a16="http://schemas.microsoft.com/office/drawing/2014/main" id="{EF7386C6-D559-41AF-B81E-BA7651AC8BE0}"/>
                </a:ext>
              </a:extLst>
            </p:cNvPr>
            <p:cNvSpPr/>
            <p:nvPr/>
          </p:nvSpPr>
          <p:spPr>
            <a:xfrm>
              <a:off x="2484944" y="4494024"/>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dirty="0"/>
            </a:p>
          </p:txBody>
        </p:sp>
        <p:sp>
          <p:nvSpPr>
            <p:cNvPr id="24" name="Freihandform: Form 147">
              <a:extLst>
                <a:ext uri="{FF2B5EF4-FFF2-40B4-BE49-F238E27FC236}">
                  <a16:creationId xmlns:a16="http://schemas.microsoft.com/office/drawing/2014/main" id="{8BEEC73A-E773-4F9C-86C2-428BF1E87550}"/>
                </a:ext>
              </a:extLst>
            </p:cNvPr>
            <p:cNvSpPr/>
            <p:nvPr/>
          </p:nvSpPr>
          <p:spPr>
            <a:xfrm>
              <a:off x="2593629" y="4507610"/>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dirty="0"/>
            </a:p>
          </p:txBody>
        </p:sp>
        <p:sp>
          <p:nvSpPr>
            <p:cNvPr id="25" name="Freihandform: Form 148">
              <a:extLst>
                <a:ext uri="{FF2B5EF4-FFF2-40B4-BE49-F238E27FC236}">
                  <a16:creationId xmlns:a16="http://schemas.microsoft.com/office/drawing/2014/main" id="{A1CC3FBF-5A4C-40F0-89F7-9DEE83588D02}"/>
                </a:ext>
              </a:extLst>
            </p:cNvPr>
            <p:cNvSpPr/>
            <p:nvPr/>
          </p:nvSpPr>
          <p:spPr>
            <a:xfrm>
              <a:off x="2484944" y="4602710"/>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dirty="0"/>
            </a:p>
          </p:txBody>
        </p:sp>
        <p:sp>
          <p:nvSpPr>
            <p:cNvPr id="26" name="Freihandform: Form 149">
              <a:extLst>
                <a:ext uri="{FF2B5EF4-FFF2-40B4-BE49-F238E27FC236}">
                  <a16:creationId xmlns:a16="http://schemas.microsoft.com/office/drawing/2014/main" id="{8C3B8F1C-542E-4F97-BB7C-47557819042A}"/>
                </a:ext>
              </a:extLst>
            </p:cNvPr>
            <p:cNvSpPr/>
            <p:nvPr/>
          </p:nvSpPr>
          <p:spPr>
            <a:xfrm>
              <a:off x="2593629" y="4616296"/>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dirty="0"/>
            </a:p>
          </p:txBody>
        </p:sp>
        <p:sp>
          <p:nvSpPr>
            <p:cNvPr id="27" name="Freihandform: Form 150">
              <a:extLst>
                <a:ext uri="{FF2B5EF4-FFF2-40B4-BE49-F238E27FC236}">
                  <a16:creationId xmlns:a16="http://schemas.microsoft.com/office/drawing/2014/main" id="{1E31D50E-65E2-46B8-AEE8-964626B492B8}"/>
                </a:ext>
              </a:extLst>
            </p:cNvPr>
            <p:cNvSpPr/>
            <p:nvPr/>
          </p:nvSpPr>
          <p:spPr>
            <a:xfrm>
              <a:off x="2484944" y="4711395"/>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dirty="0"/>
            </a:p>
          </p:txBody>
        </p:sp>
        <p:sp>
          <p:nvSpPr>
            <p:cNvPr id="28" name="Freihandform: Form 151">
              <a:extLst>
                <a:ext uri="{FF2B5EF4-FFF2-40B4-BE49-F238E27FC236}">
                  <a16:creationId xmlns:a16="http://schemas.microsoft.com/office/drawing/2014/main" id="{4227EF37-38A4-4DA2-BD2F-9BFCD22BAB7F}"/>
                </a:ext>
              </a:extLst>
            </p:cNvPr>
            <p:cNvSpPr/>
            <p:nvPr/>
          </p:nvSpPr>
          <p:spPr>
            <a:xfrm>
              <a:off x="2593629" y="4724981"/>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dirty="0"/>
            </a:p>
          </p:txBody>
        </p:sp>
        <p:sp>
          <p:nvSpPr>
            <p:cNvPr id="29" name="Freihandform: Form 152">
              <a:extLst>
                <a:ext uri="{FF2B5EF4-FFF2-40B4-BE49-F238E27FC236}">
                  <a16:creationId xmlns:a16="http://schemas.microsoft.com/office/drawing/2014/main" id="{FA00B24A-F304-43DE-9E81-BCD66CA79365}"/>
                </a:ext>
              </a:extLst>
            </p:cNvPr>
            <p:cNvSpPr/>
            <p:nvPr/>
          </p:nvSpPr>
          <p:spPr>
            <a:xfrm>
              <a:off x="2484944" y="4820081"/>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dirty="0"/>
            </a:p>
          </p:txBody>
        </p:sp>
        <p:sp>
          <p:nvSpPr>
            <p:cNvPr id="30" name="Freihandform: Form 153">
              <a:extLst>
                <a:ext uri="{FF2B5EF4-FFF2-40B4-BE49-F238E27FC236}">
                  <a16:creationId xmlns:a16="http://schemas.microsoft.com/office/drawing/2014/main" id="{514824B0-14D8-44FE-BA7D-42C30D4CD661}"/>
                </a:ext>
              </a:extLst>
            </p:cNvPr>
            <p:cNvSpPr/>
            <p:nvPr/>
          </p:nvSpPr>
          <p:spPr>
            <a:xfrm>
              <a:off x="2593629" y="4833667"/>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dirty="0"/>
            </a:p>
          </p:txBody>
        </p:sp>
      </p:grpSp>
      <p:sp>
        <p:nvSpPr>
          <p:cNvPr id="33" name="Textplatzhalter 50"/>
          <p:cNvSpPr>
            <a:spLocks noGrp="1"/>
          </p:cNvSpPr>
          <p:nvPr>
            <p:ph type="body" sz="quarter" idx="13"/>
          </p:nvPr>
        </p:nvSpPr>
        <p:spPr>
          <a:xfrm>
            <a:off x="2278816" y="2119193"/>
            <a:ext cx="2149475" cy="706356"/>
          </a:xfrm>
        </p:spPr>
        <p:txBody>
          <a:bodyPr>
            <a:normAutofit lnSpcReduction="10000"/>
          </a:bodyPr>
          <a:lstStyle/>
          <a:p>
            <a:r>
              <a:rPr lang="de-DE" dirty="0"/>
              <a:t>02</a:t>
            </a:r>
          </a:p>
        </p:txBody>
      </p:sp>
      <p:sp>
        <p:nvSpPr>
          <p:cNvPr id="34" name="Textplatzhalter 51"/>
          <p:cNvSpPr>
            <a:spLocks noGrp="1"/>
          </p:cNvSpPr>
          <p:nvPr>
            <p:ph type="body" sz="quarter" idx="14"/>
          </p:nvPr>
        </p:nvSpPr>
        <p:spPr>
          <a:xfrm>
            <a:off x="2285479" y="2869560"/>
            <a:ext cx="2149475" cy="423045"/>
          </a:xfrm>
        </p:spPr>
        <p:txBody>
          <a:bodyPr>
            <a:normAutofit/>
          </a:bodyPr>
          <a:lstStyle/>
          <a:p>
            <a:r>
              <a:rPr lang="de-DE" dirty="0"/>
              <a:t>Parameter</a:t>
            </a:r>
          </a:p>
        </p:txBody>
      </p:sp>
      <p:sp>
        <p:nvSpPr>
          <p:cNvPr id="20" name="Textplatzhalter 50">
            <a:extLst>
              <a:ext uri="{FF2B5EF4-FFF2-40B4-BE49-F238E27FC236}">
                <a16:creationId xmlns:a16="http://schemas.microsoft.com/office/drawing/2014/main" id="{993D1371-A972-89CF-3414-14ABBFEAA678}"/>
              </a:ext>
            </a:extLst>
          </p:cNvPr>
          <p:cNvSpPr txBox="1">
            <a:spLocks/>
          </p:cNvSpPr>
          <p:nvPr/>
        </p:nvSpPr>
        <p:spPr>
          <a:xfrm>
            <a:off x="4427438" y="2119168"/>
            <a:ext cx="2149475" cy="706356"/>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4800" b="1" kern="1200">
                <a:solidFill>
                  <a:schemeClr val="accent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03</a:t>
            </a:r>
          </a:p>
        </p:txBody>
      </p:sp>
      <p:sp>
        <p:nvSpPr>
          <p:cNvPr id="31" name="Textplatzhalter 51">
            <a:extLst>
              <a:ext uri="{FF2B5EF4-FFF2-40B4-BE49-F238E27FC236}">
                <a16:creationId xmlns:a16="http://schemas.microsoft.com/office/drawing/2014/main" id="{B30CA40C-FD26-5541-82B0-5892DA776BF9}"/>
              </a:ext>
            </a:extLst>
          </p:cNvPr>
          <p:cNvSpPr txBox="1">
            <a:spLocks/>
          </p:cNvSpPr>
          <p:nvPr/>
        </p:nvSpPr>
        <p:spPr>
          <a:xfrm>
            <a:off x="4427438" y="2869535"/>
            <a:ext cx="2149475" cy="42304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Rückgabewert</a:t>
            </a:r>
          </a:p>
        </p:txBody>
      </p:sp>
      <p:sp>
        <p:nvSpPr>
          <p:cNvPr id="32" name="Textplatzhalter 50">
            <a:extLst>
              <a:ext uri="{FF2B5EF4-FFF2-40B4-BE49-F238E27FC236}">
                <a16:creationId xmlns:a16="http://schemas.microsoft.com/office/drawing/2014/main" id="{554F72DC-4D81-DD8D-BD2F-DB4360D386EB}"/>
              </a:ext>
            </a:extLst>
          </p:cNvPr>
          <p:cNvSpPr txBox="1">
            <a:spLocks/>
          </p:cNvSpPr>
          <p:nvPr/>
        </p:nvSpPr>
        <p:spPr>
          <a:xfrm>
            <a:off x="6569397" y="2109008"/>
            <a:ext cx="2149475" cy="706356"/>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4800" b="1" kern="1200">
                <a:solidFill>
                  <a:schemeClr val="accent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04</a:t>
            </a:r>
          </a:p>
        </p:txBody>
      </p:sp>
      <p:sp>
        <p:nvSpPr>
          <p:cNvPr id="35" name="Textplatzhalter 51">
            <a:extLst>
              <a:ext uri="{FF2B5EF4-FFF2-40B4-BE49-F238E27FC236}">
                <a16:creationId xmlns:a16="http://schemas.microsoft.com/office/drawing/2014/main" id="{D8FBEA12-DEA4-B5C1-1953-C35F96223101}"/>
              </a:ext>
            </a:extLst>
          </p:cNvPr>
          <p:cNvSpPr txBox="1">
            <a:spLocks/>
          </p:cNvSpPr>
          <p:nvPr/>
        </p:nvSpPr>
        <p:spPr>
          <a:xfrm>
            <a:off x="6569397" y="2859375"/>
            <a:ext cx="2149475" cy="8068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Require und</a:t>
            </a:r>
            <a:br>
              <a:rPr lang="de-DE" dirty="0"/>
            </a:br>
            <a:r>
              <a:rPr lang="de-DE" dirty="0"/>
              <a:t>Include</a:t>
            </a:r>
          </a:p>
        </p:txBody>
      </p:sp>
      <p:sp>
        <p:nvSpPr>
          <p:cNvPr id="36" name="Fußzeilenplatzhalter 4">
            <a:extLst>
              <a:ext uri="{FF2B5EF4-FFF2-40B4-BE49-F238E27FC236}">
                <a16:creationId xmlns:a16="http://schemas.microsoft.com/office/drawing/2014/main" id="{19926805-537B-FF8A-D5BB-E76A86F71DD2}"/>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
        <p:nvSpPr>
          <p:cNvPr id="37" name="Textplatzhalter 50">
            <a:extLst>
              <a:ext uri="{FF2B5EF4-FFF2-40B4-BE49-F238E27FC236}">
                <a16:creationId xmlns:a16="http://schemas.microsoft.com/office/drawing/2014/main" id="{6C3610C3-B7B0-7162-6ECF-0E89D5D3ED4A}"/>
              </a:ext>
            </a:extLst>
          </p:cNvPr>
          <p:cNvSpPr txBox="1">
            <a:spLocks/>
          </p:cNvSpPr>
          <p:nvPr/>
        </p:nvSpPr>
        <p:spPr>
          <a:xfrm>
            <a:off x="8718019" y="2119168"/>
            <a:ext cx="2149475" cy="706356"/>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4800" b="1" kern="1200">
                <a:solidFill>
                  <a:schemeClr val="accent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05</a:t>
            </a:r>
          </a:p>
        </p:txBody>
      </p:sp>
      <p:sp>
        <p:nvSpPr>
          <p:cNvPr id="38" name="Textplatzhalter 51">
            <a:extLst>
              <a:ext uri="{FF2B5EF4-FFF2-40B4-BE49-F238E27FC236}">
                <a16:creationId xmlns:a16="http://schemas.microsoft.com/office/drawing/2014/main" id="{952B3AAF-8B48-873D-F8A5-BCD0426181DC}"/>
              </a:ext>
            </a:extLst>
          </p:cNvPr>
          <p:cNvSpPr txBox="1">
            <a:spLocks/>
          </p:cNvSpPr>
          <p:nvPr/>
        </p:nvSpPr>
        <p:spPr>
          <a:xfrm>
            <a:off x="8718019" y="2869535"/>
            <a:ext cx="2149475" cy="8068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Aufgabe</a:t>
            </a:r>
          </a:p>
        </p:txBody>
      </p:sp>
    </p:spTree>
    <p:extLst>
      <p:ext uri="{BB962C8B-B14F-4D97-AF65-F5344CB8AC3E}">
        <p14:creationId xmlns:p14="http://schemas.microsoft.com/office/powerpoint/2010/main" val="160507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40C0C267-4062-4957-B483-26A6CCA2C40D}" type="datetime1">
              <a:rPr lang="de-DE" smtClean="0"/>
              <a:t>13.05.2022</a:t>
            </a:fld>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3</a:t>
            </a:fld>
            <a:endParaRPr lang="de-DE" dirty="0"/>
          </a:p>
        </p:txBody>
      </p:sp>
      <p:sp>
        <p:nvSpPr>
          <p:cNvPr id="11" name="Textplatzhalter 10"/>
          <p:cNvSpPr>
            <a:spLocks noGrp="1"/>
          </p:cNvSpPr>
          <p:nvPr>
            <p:ph type="body" sz="quarter" idx="13"/>
          </p:nvPr>
        </p:nvSpPr>
        <p:spPr>
          <a:xfrm>
            <a:off x="5363852" y="2208373"/>
            <a:ext cx="5751512" cy="707704"/>
          </a:xfrm>
        </p:spPr>
        <p:txBody>
          <a:bodyPr>
            <a:noAutofit/>
          </a:bodyPr>
          <a:lstStyle/>
          <a:p>
            <a:r>
              <a:rPr lang="de-DE" sz="3200" dirty="0"/>
              <a:t>Funktionen </a:t>
            </a:r>
          </a:p>
        </p:txBody>
      </p:sp>
      <p:sp>
        <p:nvSpPr>
          <p:cNvPr id="13" name="Textplatzhalter 12"/>
          <p:cNvSpPr>
            <a:spLocks noGrp="1"/>
          </p:cNvSpPr>
          <p:nvPr>
            <p:ph type="body" sz="quarter" idx="15"/>
          </p:nvPr>
        </p:nvSpPr>
        <p:spPr/>
        <p:txBody>
          <a:bodyPr/>
          <a:lstStyle/>
          <a:p>
            <a:r>
              <a:rPr lang="de-DE" dirty="0"/>
              <a:t>01</a:t>
            </a: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77634"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a:p>
        </p:txBody>
      </p:sp>
      <p:sp>
        <p:nvSpPr>
          <p:cNvPr id="22" name="Fußzeilenplatzhalter 4">
            <a:extLst>
              <a:ext uri="{FF2B5EF4-FFF2-40B4-BE49-F238E27FC236}">
                <a16:creationId xmlns:a16="http://schemas.microsoft.com/office/drawing/2014/main" id="{E02D603E-E66D-C9E2-A3AD-48742432006E}"/>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Tree>
    <p:extLst>
      <p:ext uri="{BB962C8B-B14F-4D97-AF65-F5344CB8AC3E}">
        <p14:creationId xmlns:p14="http://schemas.microsoft.com/office/powerpoint/2010/main" val="1030996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4"/>
          </p:nvPr>
        </p:nvSpPr>
        <p:spPr>
          <a:xfrm>
            <a:off x="362422" y="1463581"/>
            <a:ext cx="11495753" cy="4419877"/>
          </a:xfrm>
        </p:spPr>
        <p:txBody>
          <a:bodyPr>
            <a:normAutofit/>
          </a:bodyPr>
          <a:lstStyle/>
          <a:p>
            <a:r>
              <a:rPr lang="de-DE" sz="1800" dirty="0"/>
              <a:t>Code-Teile, die immer wieder benötigt werden, können in eigene Funktionen ausgelagert werden.</a:t>
            </a:r>
          </a:p>
          <a:p>
            <a:r>
              <a:rPr lang="de-DE" sz="1800" b="1" dirty="0"/>
              <a:t>Syntax</a:t>
            </a:r>
          </a:p>
          <a:p>
            <a:pPr marL="457200" lvl="1" indent="0">
              <a:buNone/>
            </a:pPr>
            <a:r>
              <a:rPr lang="de-DE" sz="1800" dirty="0"/>
              <a:t>function meineFunktion(){</a:t>
            </a:r>
          </a:p>
          <a:p>
            <a:pPr marL="457200" lvl="1" indent="0">
              <a:buNone/>
            </a:pPr>
            <a:r>
              <a:rPr lang="de-DE" sz="1800" dirty="0"/>
              <a:t>	$x = 5;</a:t>
            </a:r>
          </a:p>
          <a:p>
            <a:pPr marL="457200" lvl="1" indent="0">
              <a:buNone/>
            </a:pPr>
            <a:r>
              <a:rPr lang="de-DE" sz="1800" dirty="0"/>
              <a:t>	$y = 10;</a:t>
            </a:r>
          </a:p>
          <a:p>
            <a:pPr marL="457200" lvl="1" indent="0">
              <a:buNone/>
            </a:pPr>
            <a:r>
              <a:rPr lang="de-DE" sz="1800" dirty="0"/>
              <a:t>	$ergebnis = $x * $y;</a:t>
            </a:r>
          </a:p>
          <a:p>
            <a:pPr marL="457200" lvl="1" indent="0">
              <a:buNone/>
            </a:pPr>
            <a:r>
              <a:rPr lang="de-DE" sz="1800" dirty="0"/>
              <a:t>	echo $ergebnis;</a:t>
            </a:r>
          </a:p>
          <a:p>
            <a:pPr marL="457200" lvl="1" indent="0">
              <a:buNone/>
            </a:pPr>
            <a:r>
              <a:rPr lang="de-DE" sz="1800" dirty="0"/>
              <a:t>}</a:t>
            </a:r>
          </a:p>
          <a:p>
            <a:pPr marL="457200" lvl="1" indent="0">
              <a:buNone/>
            </a:pPr>
            <a:endParaRPr lang="de-DE" sz="1800" dirty="0"/>
          </a:p>
          <a:p>
            <a:r>
              <a:rPr lang="de-DE" sz="1800" b="1" dirty="0"/>
              <a:t>Aufruf der Funktion</a:t>
            </a:r>
          </a:p>
          <a:p>
            <a:pPr marL="457200" lvl="1" indent="0">
              <a:buNone/>
            </a:pPr>
            <a:r>
              <a:rPr lang="de-DE" sz="1800" dirty="0"/>
              <a:t>meineFunktion();</a:t>
            </a:r>
          </a:p>
          <a:p>
            <a:pPr marL="457200" lvl="1" indent="0">
              <a:buNone/>
            </a:pPr>
            <a:endParaRPr lang="de-DE" sz="1800" dirty="0"/>
          </a:p>
        </p:txBody>
      </p:sp>
      <p:sp>
        <p:nvSpPr>
          <p:cNvPr id="3" name="Datumsplatzhalter 2"/>
          <p:cNvSpPr>
            <a:spLocks noGrp="1"/>
          </p:cNvSpPr>
          <p:nvPr>
            <p:ph type="dt" sz="half" idx="10"/>
          </p:nvPr>
        </p:nvSpPr>
        <p:spPr/>
        <p:txBody>
          <a:bodyPr/>
          <a:lstStyle/>
          <a:p>
            <a:fld id="{2C929609-5B6D-4D6B-87F3-9C2730465329}" type="datetime1">
              <a:rPr lang="de-DE" smtClean="0"/>
              <a:t>13.05.2022</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4</a:t>
            </a:fld>
            <a:endParaRPr lang="de-DE"/>
          </a:p>
        </p:txBody>
      </p:sp>
      <p:sp>
        <p:nvSpPr>
          <p:cNvPr id="14" name="Titel 10"/>
          <p:cNvSpPr>
            <a:spLocks noGrp="1"/>
          </p:cNvSpPr>
          <p:nvPr>
            <p:ph type="title"/>
          </p:nvPr>
        </p:nvSpPr>
        <p:spPr>
          <a:xfrm>
            <a:off x="362422" y="550865"/>
            <a:ext cx="8559156" cy="720725"/>
          </a:xfrm>
        </p:spPr>
        <p:txBody>
          <a:bodyPr>
            <a:normAutofit/>
          </a:bodyPr>
          <a:lstStyle/>
          <a:p>
            <a:r>
              <a:rPr lang="de-DE" dirty="0">
                <a:effectLst>
                  <a:outerShdw blurRad="38100" dist="38100" dir="2700000" algn="tl">
                    <a:srgbClr val="000000">
                      <a:alpha val="43137"/>
                    </a:srgbClr>
                  </a:outerShdw>
                </a:effectLst>
              </a:rPr>
              <a:t>1. </a:t>
            </a:r>
            <a:r>
              <a:rPr lang="de-DE" sz="4400" dirty="0"/>
              <a:t>Funktionen</a:t>
            </a:r>
            <a:endParaRPr lang="de-DE" dirty="0"/>
          </a:p>
        </p:txBody>
      </p:sp>
      <p:sp>
        <p:nvSpPr>
          <p:cNvPr id="6" name="Fußzeilenplatzhalter 4">
            <a:extLst>
              <a:ext uri="{FF2B5EF4-FFF2-40B4-BE49-F238E27FC236}">
                <a16:creationId xmlns:a16="http://schemas.microsoft.com/office/drawing/2014/main" id="{17B73528-6282-7782-387B-48D232074DC5}"/>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
        <p:nvSpPr>
          <p:cNvPr id="7" name="Textfeld 6">
            <a:extLst>
              <a:ext uri="{FF2B5EF4-FFF2-40B4-BE49-F238E27FC236}">
                <a16:creationId xmlns:a16="http://schemas.microsoft.com/office/drawing/2014/main" id="{0E979F97-0D40-63C4-969E-B99F4D539FDF}"/>
              </a:ext>
            </a:extLst>
          </p:cNvPr>
          <p:cNvSpPr txBox="1"/>
          <p:nvPr/>
        </p:nvSpPr>
        <p:spPr>
          <a:xfrm>
            <a:off x="4185397" y="2108974"/>
            <a:ext cx="5505357" cy="1754326"/>
          </a:xfrm>
          <a:prstGeom prst="rect">
            <a:avLst/>
          </a:prstGeom>
          <a:noFill/>
          <a:ln>
            <a:solidFill>
              <a:schemeClr val="tx1"/>
            </a:solidFill>
          </a:ln>
        </p:spPr>
        <p:txBody>
          <a:bodyPr wrap="square" rtlCol="0">
            <a:spAutoFit/>
          </a:bodyPr>
          <a:lstStyle/>
          <a:p>
            <a:r>
              <a:rPr lang="de-DE" dirty="0"/>
              <a:t>In diesem Beispiel werden alle Berechnungen mit funktions-lokalen Variablen durchgeführt und es gibt keinen Rückgabewert.</a:t>
            </a:r>
          </a:p>
          <a:p>
            <a:endParaRPr lang="de-DE" dirty="0"/>
          </a:p>
          <a:p>
            <a:r>
              <a:rPr lang="de-DE" dirty="0"/>
              <a:t>Das Ergebnis muss innerhalb der Funktion ausgegeben werden, da es sonst „verfällt“.</a:t>
            </a:r>
          </a:p>
        </p:txBody>
      </p:sp>
    </p:spTree>
    <p:extLst>
      <p:ext uri="{BB962C8B-B14F-4D97-AF65-F5344CB8AC3E}">
        <p14:creationId xmlns:p14="http://schemas.microsoft.com/office/powerpoint/2010/main" val="2018630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40C0C267-4062-4957-B483-26A6CCA2C40D}" type="datetime1">
              <a:rPr lang="de-DE" smtClean="0"/>
              <a:t>13.05.2022</a:t>
            </a:fld>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5</a:t>
            </a:fld>
            <a:endParaRPr lang="de-DE" dirty="0"/>
          </a:p>
        </p:txBody>
      </p:sp>
      <p:sp>
        <p:nvSpPr>
          <p:cNvPr id="11" name="Textplatzhalter 10"/>
          <p:cNvSpPr>
            <a:spLocks noGrp="1"/>
          </p:cNvSpPr>
          <p:nvPr>
            <p:ph type="body" sz="quarter" idx="13"/>
          </p:nvPr>
        </p:nvSpPr>
        <p:spPr>
          <a:xfrm>
            <a:off x="5363852" y="2208373"/>
            <a:ext cx="5751512" cy="707704"/>
          </a:xfrm>
        </p:spPr>
        <p:txBody>
          <a:bodyPr>
            <a:noAutofit/>
          </a:bodyPr>
          <a:lstStyle/>
          <a:p>
            <a:r>
              <a:rPr lang="de-DE" sz="3200" dirty="0"/>
              <a:t>Parameter </a:t>
            </a:r>
          </a:p>
        </p:txBody>
      </p:sp>
      <p:sp>
        <p:nvSpPr>
          <p:cNvPr id="13" name="Textplatzhalter 12"/>
          <p:cNvSpPr>
            <a:spLocks noGrp="1"/>
          </p:cNvSpPr>
          <p:nvPr>
            <p:ph type="body" sz="quarter" idx="15"/>
          </p:nvPr>
        </p:nvSpPr>
        <p:spPr/>
        <p:txBody>
          <a:bodyPr/>
          <a:lstStyle/>
          <a:p>
            <a:r>
              <a:rPr lang="de-DE" dirty="0"/>
              <a:t>02</a:t>
            </a: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77634"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a:p>
        </p:txBody>
      </p:sp>
      <p:sp>
        <p:nvSpPr>
          <p:cNvPr id="22" name="Fußzeilenplatzhalter 4">
            <a:extLst>
              <a:ext uri="{FF2B5EF4-FFF2-40B4-BE49-F238E27FC236}">
                <a16:creationId xmlns:a16="http://schemas.microsoft.com/office/drawing/2014/main" id="{E02D603E-E66D-C9E2-A3AD-48742432006E}"/>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Tree>
    <p:extLst>
      <p:ext uri="{BB962C8B-B14F-4D97-AF65-F5344CB8AC3E}">
        <p14:creationId xmlns:p14="http://schemas.microsoft.com/office/powerpoint/2010/main" val="3714396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13.05.2022</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6</a:t>
            </a:fld>
            <a:endParaRPr lang="de-DE"/>
          </a:p>
        </p:txBody>
      </p:sp>
      <p:sp>
        <p:nvSpPr>
          <p:cNvPr id="14" name="Titel 10"/>
          <p:cNvSpPr>
            <a:spLocks noGrp="1"/>
          </p:cNvSpPr>
          <p:nvPr>
            <p:ph type="title"/>
          </p:nvPr>
        </p:nvSpPr>
        <p:spPr>
          <a:xfrm>
            <a:off x="362422" y="550865"/>
            <a:ext cx="8559156" cy="720725"/>
          </a:xfrm>
        </p:spPr>
        <p:txBody>
          <a:bodyPr vert="horz" lIns="91440" tIns="45720" rIns="91440" bIns="45720" rtlCol="0" anchor="t" anchorCtr="0">
            <a:normAutofit/>
          </a:bodyPr>
          <a:lstStyle/>
          <a:p>
            <a:r>
              <a:rPr lang="de-DE" dirty="0">
                <a:effectLst>
                  <a:outerShdw blurRad="38100" dist="38100" dir="2700000" algn="tl">
                    <a:srgbClr val="000000">
                      <a:alpha val="43137"/>
                    </a:srgbClr>
                  </a:outerShdw>
                </a:effectLst>
              </a:rPr>
              <a:t>2. </a:t>
            </a:r>
            <a:r>
              <a:rPr lang="de-DE" sz="4400" dirty="0"/>
              <a:t>Parameter</a:t>
            </a:r>
            <a:endParaRPr lang="de-DE" dirty="0">
              <a:effectLst>
                <a:outerShdw blurRad="38100" dist="38100" dir="2700000" algn="tl">
                  <a:srgbClr val="000000">
                    <a:alpha val="43137"/>
                  </a:srgbClr>
                </a:outerShdw>
              </a:effectLst>
            </a:endParaRPr>
          </a:p>
        </p:txBody>
      </p:sp>
      <p:sp>
        <p:nvSpPr>
          <p:cNvPr id="8" name="Fußzeilenplatzhalter 4">
            <a:extLst>
              <a:ext uri="{FF2B5EF4-FFF2-40B4-BE49-F238E27FC236}">
                <a16:creationId xmlns:a16="http://schemas.microsoft.com/office/drawing/2014/main" id="{DF36DA75-F830-5DE9-2968-4154BF609DDB}"/>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
        <p:nvSpPr>
          <p:cNvPr id="9" name="Textplatzhalter 1">
            <a:extLst>
              <a:ext uri="{FF2B5EF4-FFF2-40B4-BE49-F238E27FC236}">
                <a16:creationId xmlns:a16="http://schemas.microsoft.com/office/drawing/2014/main" id="{D043656A-D3E0-F96A-6083-DBE8849F9ABD}"/>
              </a:ext>
            </a:extLst>
          </p:cNvPr>
          <p:cNvSpPr txBox="1">
            <a:spLocks/>
          </p:cNvSpPr>
          <p:nvPr/>
        </p:nvSpPr>
        <p:spPr>
          <a:xfrm>
            <a:off x="362422" y="1463581"/>
            <a:ext cx="11495753" cy="45749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800" dirty="0"/>
              <a:t>Einer Funktion können beim Aufruf Werte übergeben werden. Dazu werden die Werte sowohl beim Aufruf, als auch bei der Funktion in die runden Klammern geschrieben.</a:t>
            </a:r>
          </a:p>
          <a:p>
            <a:r>
              <a:rPr lang="de-DE" sz="1800" b="1" dirty="0"/>
              <a:t>Syntax</a:t>
            </a:r>
          </a:p>
          <a:p>
            <a:pPr marL="457200" lvl="1" indent="0">
              <a:buFont typeface="Arial" panose="020B0604020202020204" pitchFamily="34" charset="0"/>
              <a:buNone/>
            </a:pPr>
            <a:r>
              <a:rPr lang="de-DE" sz="1800" dirty="0"/>
              <a:t>function meineFunktion($wert1, $wert2){</a:t>
            </a:r>
          </a:p>
          <a:p>
            <a:pPr marL="457200" lvl="1" indent="0">
              <a:buFont typeface="Arial" panose="020B0604020202020204" pitchFamily="34" charset="0"/>
              <a:buNone/>
            </a:pPr>
            <a:r>
              <a:rPr lang="de-DE" sz="1800" dirty="0"/>
              <a:t>	$ergebnis = $wert1 * $wert2;</a:t>
            </a:r>
          </a:p>
          <a:p>
            <a:pPr marL="457200" lvl="1" indent="0">
              <a:buFont typeface="Arial" panose="020B0604020202020204" pitchFamily="34" charset="0"/>
              <a:buNone/>
            </a:pPr>
            <a:r>
              <a:rPr lang="de-DE" sz="1800" dirty="0"/>
              <a:t>	echo $ergebnis;</a:t>
            </a:r>
          </a:p>
          <a:p>
            <a:pPr marL="457200" lvl="1" indent="0">
              <a:buFont typeface="Arial" panose="020B0604020202020204" pitchFamily="34" charset="0"/>
              <a:buNone/>
            </a:pPr>
            <a:r>
              <a:rPr lang="de-DE" sz="1800" dirty="0"/>
              <a:t>}</a:t>
            </a:r>
          </a:p>
          <a:p>
            <a:r>
              <a:rPr lang="de-DE" sz="1800" b="1" dirty="0"/>
              <a:t>Aufruf der Funktion</a:t>
            </a:r>
          </a:p>
          <a:p>
            <a:pPr marL="457200" lvl="1" indent="0">
              <a:buFont typeface="Arial" panose="020B0604020202020204" pitchFamily="34" charset="0"/>
              <a:buNone/>
            </a:pPr>
            <a:r>
              <a:rPr lang="de-DE" sz="1800" dirty="0"/>
              <a:t>meineFunktion(3, 5);</a:t>
            </a:r>
          </a:p>
          <a:p>
            <a:pPr marL="457200" lvl="1" indent="0">
              <a:buFont typeface="Arial" panose="020B0604020202020204" pitchFamily="34" charset="0"/>
              <a:buNone/>
            </a:pPr>
            <a:r>
              <a:rPr lang="de-DE" sz="1800" dirty="0">
                <a:solidFill>
                  <a:schemeClr val="accent2"/>
                </a:solidFill>
              </a:rPr>
              <a:t>Oder mit Variablen:</a:t>
            </a:r>
          </a:p>
          <a:p>
            <a:pPr marL="457200" lvl="1" indent="0">
              <a:buFont typeface="Arial" panose="020B0604020202020204" pitchFamily="34" charset="0"/>
              <a:buNone/>
            </a:pPr>
            <a:r>
              <a:rPr lang="de-DE" sz="1800" dirty="0"/>
              <a:t>$x = 10;</a:t>
            </a:r>
          </a:p>
          <a:p>
            <a:pPr marL="457200" lvl="1" indent="0">
              <a:buFont typeface="Arial" panose="020B0604020202020204" pitchFamily="34" charset="0"/>
              <a:buNone/>
            </a:pPr>
            <a:r>
              <a:rPr lang="de-DE" sz="1800" dirty="0"/>
              <a:t>$y = 20;</a:t>
            </a:r>
          </a:p>
          <a:p>
            <a:pPr marL="457200" lvl="1" indent="0">
              <a:buFont typeface="Arial" panose="020B0604020202020204" pitchFamily="34" charset="0"/>
              <a:buNone/>
            </a:pPr>
            <a:r>
              <a:rPr lang="de-DE" sz="1800" dirty="0"/>
              <a:t>meineFunktion($x, $y);</a:t>
            </a:r>
          </a:p>
          <a:p>
            <a:pPr marL="457200" lvl="1" indent="0">
              <a:buFont typeface="Arial" panose="020B0604020202020204" pitchFamily="34" charset="0"/>
              <a:buNone/>
            </a:pPr>
            <a:endParaRPr lang="de-DE" sz="1800" dirty="0"/>
          </a:p>
        </p:txBody>
      </p:sp>
      <p:sp>
        <p:nvSpPr>
          <p:cNvPr id="10" name="Textfeld 9">
            <a:extLst>
              <a:ext uri="{FF2B5EF4-FFF2-40B4-BE49-F238E27FC236}">
                <a16:creationId xmlns:a16="http://schemas.microsoft.com/office/drawing/2014/main" id="{936E5FDC-5FCF-F8E5-A1CF-2C68525194F5}"/>
              </a:ext>
            </a:extLst>
          </p:cNvPr>
          <p:cNvSpPr txBox="1"/>
          <p:nvPr/>
        </p:nvSpPr>
        <p:spPr>
          <a:xfrm>
            <a:off x="5263699" y="2203864"/>
            <a:ext cx="5855750" cy="1477328"/>
          </a:xfrm>
          <a:prstGeom prst="rect">
            <a:avLst/>
          </a:prstGeom>
          <a:noFill/>
          <a:ln>
            <a:solidFill>
              <a:schemeClr val="tx1"/>
            </a:solidFill>
          </a:ln>
        </p:spPr>
        <p:txBody>
          <a:bodyPr wrap="square" rtlCol="0">
            <a:spAutoFit/>
          </a:bodyPr>
          <a:lstStyle/>
          <a:p>
            <a:r>
              <a:rPr lang="de-DE" dirty="0"/>
              <a:t>Auch hier werden alle Berechnungen innerhalb der Funktion durchgeführt und es gibt keinen Rückgabewert.</a:t>
            </a:r>
          </a:p>
          <a:p>
            <a:endParaRPr lang="de-DE" dirty="0"/>
          </a:p>
          <a:p>
            <a:r>
              <a:rPr lang="de-DE" dirty="0"/>
              <a:t>Dafür kann die Funktion dank der Übergabewerte beliebig oft mit neuen Werten aufgerufen werden.</a:t>
            </a:r>
          </a:p>
        </p:txBody>
      </p:sp>
    </p:spTree>
    <p:extLst>
      <p:ext uri="{BB962C8B-B14F-4D97-AF65-F5344CB8AC3E}">
        <p14:creationId xmlns:p14="http://schemas.microsoft.com/office/powerpoint/2010/main" val="4221293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40C0C267-4062-4957-B483-26A6CCA2C40D}" type="datetime1">
              <a:rPr lang="de-DE" smtClean="0"/>
              <a:t>13.05.2022</a:t>
            </a:fld>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7</a:t>
            </a:fld>
            <a:endParaRPr lang="de-DE" dirty="0"/>
          </a:p>
        </p:txBody>
      </p:sp>
      <p:sp>
        <p:nvSpPr>
          <p:cNvPr id="11" name="Textplatzhalter 10"/>
          <p:cNvSpPr>
            <a:spLocks noGrp="1"/>
          </p:cNvSpPr>
          <p:nvPr>
            <p:ph type="body" sz="quarter" idx="13"/>
          </p:nvPr>
        </p:nvSpPr>
        <p:spPr>
          <a:xfrm>
            <a:off x="5363852" y="2208373"/>
            <a:ext cx="5751512" cy="707704"/>
          </a:xfrm>
        </p:spPr>
        <p:txBody>
          <a:bodyPr>
            <a:noAutofit/>
          </a:bodyPr>
          <a:lstStyle/>
          <a:p>
            <a:r>
              <a:rPr lang="de-DE" sz="3200" dirty="0"/>
              <a:t>Rückgabewert </a:t>
            </a:r>
          </a:p>
        </p:txBody>
      </p:sp>
      <p:sp>
        <p:nvSpPr>
          <p:cNvPr id="13" name="Textplatzhalter 12"/>
          <p:cNvSpPr>
            <a:spLocks noGrp="1"/>
          </p:cNvSpPr>
          <p:nvPr>
            <p:ph type="body" sz="quarter" idx="15"/>
          </p:nvPr>
        </p:nvSpPr>
        <p:spPr/>
        <p:txBody>
          <a:bodyPr/>
          <a:lstStyle/>
          <a:p>
            <a:r>
              <a:rPr lang="de-DE" dirty="0"/>
              <a:t>03</a:t>
            </a: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77634"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a:p>
        </p:txBody>
      </p:sp>
      <p:sp>
        <p:nvSpPr>
          <p:cNvPr id="22" name="Fußzeilenplatzhalter 4">
            <a:extLst>
              <a:ext uri="{FF2B5EF4-FFF2-40B4-BE49-F238E27FC236}">
                <a16:creationId xmlns:a16="http://schemas.microsoft.com/office/drawing/2014/main" id="{E02D603E-E66D-C9E2-A3AD-48742432006E}"/>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Tree>
    <p:extLst>
      <p:ext uri="{BB962C8B-B14F-4D97-AF65-F5344CB8AC3E}">
        <p14:creationId xmlns:p14="http://schemas.microsoft.com/office/powerpoint/2010/main" val="2033828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4"/>
          </p:nvPr>
        </p:nvSpPr>
        <p:spPr>
          <a:xfrm>
            <a:off x="362422" y="1463581"/>
            <a:ext cx="11495753" cy="4419877"/>
          </a:xfrm>
        </p:spPr>
        <p:txBody>
          <a:bodyPr>
            <a:noAutofit/>
          </a:bodyPr>
          <a:lstStyle/>
          <a:p>
            <a:r>
              <a:rPr lang="de-DE" sz="1800" dirty="0"/>
              <a:t>Funktionen können auch einen Return-Wert haben. Dieser muss dann außerhalb der Funktion ausgegeben oder in einer Variable gespeichert werden.</a:t>
            </a:r>
          </a:p>
          <a:p>
            <a:r>
              <a:rPr lang="de-DE" sz="1800" b="1" dirty="0"/>
              <a:t>Syntax</a:t>
            </a:r>
          </a:p>
          <a:p>
            <a:pPr marL="457200" lvl="1" indent="0">
              <a:buNone/>
            </a:pPr>
            <a:r>
              <a:rPr lang="de-DE" sz="1800" dirty="0"/>
              <a:t>function meineFunktion1(){</a:t>
            </a:r>
          </a:p>
          <a:p>
            <a:pPr marL="457200" lvl="1" indent="0">
              <a:buNone/>
            </a:pPr>
            <a:r>
              <a:rPr lang="de-DE" sz="1800" dirty="0"/>
              <a:t>	return "Hallo";</a:t>
            </a:r>
          </a:p>
          <a:p>
            <a:pPr marL="457200" lvl="1" indent="0">
              <a:buNone/>
            </a:pPr>
            <a:r>
              <a:rPr lang="de-DE" sz="1800" dirty="0"/>
              <a:t>}</a:t>
            </a:r>
          </a:p>
          <a:p>
            <a:pPr marL="457200" lvl="1" indent="0">
              <a:buNone/>
            </a:pPr>
            <a:endParaRPr lang="de-DE" sz="1800" dirty="0"/>
          </a:p>
          <a:p>
            <a:pPr marL="457200" lvl="1" indent="0">
              <a:buNone/>
            </a:pPr>
            <a:r>
              <a:rPr lang="de-DE" sz="1800" dirty="0"/>
              <a:t>function meineFunktion2($param1, $param2){</a:t>
            </a:r>
          </a:p>
          <a:p>
            <a:pPr marL="457200" lvl="1" indent="0">
              <a:buNone/>
            </a:pPr>
            <a:r>
              <a:rPr lang="de-DE" sz="1800" dirty="0"/>
              <a:t>	return $param1 + $param2;</a:t>
            </a:r>
          </a:p>
          <a:p>
            <a:pPr marL="457200" lvl="1" indent="0">
              <a:buNone/>
            </a:pPr>
            <a:r>
              <a:rPr lang="de-DE" sz="1800" dirty="0"/>
              <a:t>}</a:t>
            </a:r>
          </a:p>
          <a:p>
            <a:r>
              <a:rPr lang="de-DE" sz="1800" b="1" dirty="0"/>
              <a:t>Aufruf der Funktionen</a:t>
            </a:r>
          </a:p>
          <a:p>
            <a:pPr marL="457200" lvl="1" indent="0">
              <a:buNone/>
            </a:pPr>
            <a:r>
              <a:rPr lang="de-DE" sz="1800" dirty="0"/>
              <a:t>echo meineFunktion1() . "&lt;br&gt;";</a:t>
            </a:r>
          </a:p>
          <a:p>
            <a:pPr marL="457200" lvl="1" indent="0">
              <a:buNone/>
            </a:pPr>
            <a:r>
              <a:rPr lang="de-DE" sz="1800" dirty="0"/>
              <a:t>$ergebnis = meineFunktion2(5, 3);</a:t>
            </a:r>
          </a:p>
          <a:p>
            <a:pPr marL="457200" lvl="1" indent="0">
              <a:buNone/>
            </a:pPr>
            <a:r>
              <a:rPr lang="de-DE" sz="1800" dirty="0"/>
              <a:t>echo $ergebnis;</a:t>
            </a:r>
          </a:p>
          <a:p>
            <a:pPr marL="457200" lvl="1" indent="0">
              <a:buNone/>
            </a:pPr>
            <a:br>
              <a:rPr lang="de-DE" sz="1800" dirty="0"/>
            </a:br>
            <a:endParaRPr lang="de-DE" sz="1800" dirty="0"/>
          </a:p>
        </p:txBody>
      </p:sp>
      <p:sp>
        <p:nvSpPr>
          <p:cNvPr id="3" name="Datumsplatzhalter 2"/>
          <p:cNvSpPr>
            <a:spLocks noGrp="1"/>
          </p:cNvSpPr>
          <p:nvPr>
            <p:ph type="dt" sz="half" idx="10"/>
          </p:nvPr>
        </p:nvSpPr>
        <p:spPr/>
        <p:txBody>
          <a:bodyPr/>
          <a:lstStyle/>
          <a:p>
            <a:fld id="{2C929609-5B6D-4D6B-87F3-9C2730465329}" type="datetime1">
              <a:rPr lang="de-DE" smtClean="0"/>
              <a:t>13.05.2022</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8</a:t>
            </a:fld>
            <a:endParaRPr lang="de-DE"/>
          </a:p>
        </p:txBody>
      </p:sp>
      <p:sp>
        <p:nvSpPr>
          <p:cNvPr id="14" name="Titel 10"/>
          <p:cNvSpPr>
            <a:spLocks noGrp="1"/>
          </p:cNvSpPr>
          <p:nvPr>
            <p:ph type="title"/>
          </p:nvPr>
        </p:nvSpPr>
        <p:spPr>
          <a:xfrm>
            <a:off x="362422" y="550865"/>
            <a:ext cx="8559156" cy="720725"/>
          </a:xfrm>
        </p:spPr>
        <p:txBody>
          <a:bodyPr vert="horz" lIns="91440" tIns="45720" rIns="91440" bIns="45720" rtlCol="0" anchor="t" anchorCtr="0">
            <a:normAutofit/>
          </a:bodyPr>
          <a:lstStyle/>
          <a:p>
            <a:r>
              <a:rPr lang="de-DE" dirty="0">
                <a:effectLst>
                  <a:outerShdw blurRad="38100" dist="38100" dir="2700000" algn="tl">
                    <a:srgbClr val="000000">
                      <a:alpha val="43137"/>
                    </a:srgbClr>
                  </a:outerShdw>
                </a:effectLst>
              </a:rPr>
              <a:t>3. </a:t>
            </a:r>
            <a:r>
              <a:rPr lang="de-DE" sz="4400" dirty="0"/>
              <a:t>Rückgabewert</a:t>
            </a:r>
            <a:endParaRPr lang="de-DE" dirty="0">
              <a:effectLst>
                <a:outerShdw blurRad="38100" dist="38100" dir="2700000" algn="tl">
                  <a:srgbClr val="000000">
                    <a:alpha val="43137"/>
                  </a:srgbClr>
                </a:outerShdw>
              </a:effectLst>
            </a:endParaRPr>
          </a:p>
        </p:txBody>
      </p:sp>
      <p:sp>
        <p:nvSpPr>
          <p:cNvPr id="8" name="Fußzeilenplatzhalter 4">
            <a:extLst>
              <a:ext uri="{FF2B5EF4-FFF2-40B4-BE49-F238E27FC236}">
                <a16:creationId xmlns:a16="http://schemas.microsoft.com/office/drawing/2014/main" id="{2DEEB178-9773-0A57-5DA4-100E4923D059}"/>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Tree>
    <p:extLst>
      <p:ext uri="{BB962C8B-B14F-4D97-AF65-F5344CB8AC3E}">
        <p14:creationId xmlns:p14="http://schemas.microsoft.com/office/powerpoint/2010/main" val="3508253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40C0C267-4062-4957-B483-26A6CCA2C40D}" type="datetime1">
              <a:rPr lang="de-DE" smtClean="0"/>
              <a:t>13.05.2022</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9</a:t>
            </a:fld>
            <a:endParaRPr lang="de-DE"/>
          </a:p>
        </p:txBody>
      </p:sp>
      <p:sp>
        <p:nvSpPr>
          <p:cNvPr id="11" name="Textplatzhalter 10"/>
          <p:cNvSpPr>
            <a:spLocks noGrp="1"/>
          </p:cNvSpPr>
          <p:nvPr>
            <p:ph type="body" sz="quarter" idx="13"/>
          </p:nvPr>
        </p:nvSpPr>
        <p:spPr>
          <a:xfrm>
            <a:off x="5363852" y="2208373"/>
            <a:ext cx="5751512" cy="707704"/>
          </a:xfrm>
        </p:spPr>
        <p:txBody>
          <a:bodyPr>
            <a:noAutofit/>
          </a:bodyPr>
          <a:lstStyle/>
          <a:p>
            <a:r>
              <a:rPr lang="de-DE" sz="3200" dirty="0"/>
              <a:t>Require und Include</a:t>
            </a:r>
          </a:p>
        </p:txBody>
      </p:sp>
      <p:sp>
        <p:nvSpPr>
          <p:cNvPr id="13" name="Textplatzhalter 12"/>
          <p:cNvSpPr>
            <a:spLocks noGrp="1"/>
          </p:cNvSpPr>
          <p:nvPr>
            <p:ph type="body" sz="quarter" idx="15"/>
          </p:nvPr>
        </p:nvSpPr>
        <p:spPr/>
        <p:txBody>
          <a:bodyPr/>
          <a:lstStyle/>
          <a:p>
            <a:r>
              <a:rPr lang="de-DE" dirty="0"/>
              <a:t>04</a:t>
            </a: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0"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a:p>
        </p:txBody>
      </p:sp>
      <p:sp>
        <p:nvSpPr>
          <p:cNvPr id="22" name="Fußzeilenplatzhalter 4">
            <a:extLst>
              <a:ext uri="{FF2B5EF4-FFF2-40B4-BE49-F238E27FC236}">
                <a16:creationId xmlns:a16="http://schemas.microsoft.com/office/drawing/2014/main" id="{E0F079E7-9CD0-A193-BF2E-B3E887AABDA0}"/>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Tree>
    <p:extLst>
      <p:ext uri="{BB962C8B-B14F-4D97-AF65-F5344CB8AC3E}">
        <p14:creationId xmlns:p14="http://schemas.microsoft.com/office/powerpoint/2010/main" val="2810853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13.05.2022</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10</a:t>
            </a:fld>
            <a:endParaRPr lang="de-DE"/>
          </a:p>
        </p:txBody>
      </p:sp>
      <p:sp>
        <p:nvSpPr>
          <p:cNvPr id="14" name="Titel 10"/>
          <p:cNvSpPr>
            <a:spLocks noGrp="1"/>
          </p:cNvSpPr>
          <p:nvPr>
            <p:ph type="title"/>
          </p:nvPr>
        </p:nvSpPr>
        <p:spPr>
          <a:xfrm>
            <a:off x="362422" y="550865"/>
            <a:ext cx="8559156" cy="720725"/>
          </a:xfrm>
        </p:spPr>
        <p:txBody>
          <a:bodyPr vert="horz" lIns="91440" tIns="45720" rIns="91440" bIns="45720" rtlCol="0" anchor="t" anchorCtr="0">
            <a:noAutofit/>
          </a:bodyPr>
          <a:lstStyle/>
          <a:p>
            <a:r>
              <a:rPr lang="de-DE" dirty="0">
                <a:effectLst>
                  <a:outerShdw blurRad="38100" dist="38100" dir="2700000" algn="tl">
                    <a:srgbClr val="000000">
                      <a:alpha val="43137"/>
                    </a:srgbClr>
                  </a:outerShdw>
                </a:effectLst>
              </a:rPr>
              <a:t>4. </a:t>
            </a:r>
            <a:r>
              <a:rPr lang="de-DE" sz="4400" dirty="0"/>
              <a:t>Require und Include</a:t>
            </a:r>
            <a:r>
              <a:rPr lang="de-DE" dirty="0">
                <a:effectLst>
                  <a:outerShdw blurRad="38100" dist="38100" dir="2700000" algn="tl">
                    <a:srgbClr val="000000">
                      <a:alpha val="43137"/>
                    </a:srgbClr>
                  </a:outerShdw>
                </a:effectLst>
              </a:rPr>
              <a:t> </a:t>
            </a:r>
            <a:br>
              <a:rPr lang="de-DE" dirty="0">
                <a:effectLst>
                  <a:outerShdw blurRad="38100" dist="38100" dir="2700000" algn="tl">
                    <a:srgbClr val="000000">
                      <a:alpha val="43137"/>
                    </a:srgbClr>
                  </a:outerShdw>
                </a:effectLst>
              </a:rPr>
            </a:br>
            <a:r>
              <a:rPr lang="de-DE" dirty="0">
                <a:effectLst>
                  <a:outerShdw blurRad="38100" dist="38100" dir="2700000" algn="tl">
                    <a:srgbClr val="000000">
                      <a:alpha val="43137"/>
                    </a:srgbClr>
                  </a:outerShdw>
                </a:effectLst>
              </a:rPr>
              <a:t> </a:t>
            </a:r>
          </a:p>
        </p:txBody>
      </p:sp>
      <p:sp>
        <p:nvSpPr>
          <p:cNvPr id="7" name="Fußzeilenplatzhalter 4">
            <a:extLst>
              <a:ext uri="{FF2B5EF4-FFF2-40B4-BE49-F238E27FC236}">
                <a16:creationId xmlns:a16="http://schemas.microsoft.com/office/drawing/2014/main" id="{B4FC8C08-814E-C440-5298-FDEBA31856EC}"/>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
        <p:nvSpPr>
          <p:cNvPr id="8" name="Textplatzhalter 1">
            <a:extLst>
              <a:ext uri="{FF2B5EF4-FFF2-40B4-BE49-F238E27FC236}">
                <a16:creationId xmlns:a16="http://schemas.microsoft.com/office/drawing/2014/main" id="{4C30C700-9245-B8A4-F2CF-A3EC8BA578AE}"/>
              </a:ext>
            </a:extLst>
          </p:cNvPr>
          <p:cNvSpPr txBox="1">
            <a:spLocks/>
          </p:cNvSpPr>
          <p:nvPr/>
        </p:nvSpPr>
        <p:spPr>
          <a:xfrm>
            <a:off x="362422" y="1463581"/>
            <a:ext cx="11495753" cy="44886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800" dirty="0"/>
              <a:t>PHP bietet 2 Möglichkeiten, externe Dateien in den Code einzubinden</a:t>
            </a:r>
          </a:p>
          <a:p>
            <a:pPr lvl="1"/>
            <a:r>
              <a:rPr lang="de-DE" sz="1800" b="1" dirty="0"/>
              <a:t>require</a:t>
            </a:r>
            <a:br>
              <a:rPr lang="de-DE" sz="1800" dirty="0"/>
            </a:br>
            <a:r>
              <a:rPr lang="de-DE" sz="1800" dirty="0"/>
              <a:t>Dieser Befehl bindet eine </a:t>
            </a:r>
            <a:r>
              <a:rPr lang="de-DE" sz="1800" dirty="0">
                <a:solidFill>
                  <a:schemeClr val="accent2"/>
                </a:solidFill>
              </a:rPr>
              <a:t>NOTWENDIGE</a:t>
            </a:r>
            <a:r>
              <a:rPr lang="de-DE" sz="1800" dirty="0"/>
              <a:t> Datei ein. Es kommt zu einem Fehler, falls die Datei nicht vorhanden ist und die Anwendung stoppt.</a:t>
            </a:r>
          </a:p>
          <a:p>
            <a:pPr lvl="1"/>
            <a:endParaRPr lang="de-DE" sz="1800" dirty="0"/>
          </a:p>
          <a:p>
            <a:pPr lvl="1"/>
            <a:r>
              <a:rPr lang="de-DE" sz="1800" b="1" dirty="0"/>
              <a:t>include</a:t>
            </a:r>
            <a:br>
              <a:rPr lang="de-DE" sz="1800" dirty="0"/>
            </a:br>
            <a:r>
              <a:rPr lang="de-DE" sz="1800" dirty="0"/>
              <a:t>Hier wird ebenfalls eine Datei eingebunden. Allerdings wird nur eine Warnung ausgegeben, falls die Datei nicht existiert und das Programm läuft weiter. Dies kann im späteren Verlauf natürlich zu Fehlern führen, wenn auf Code zugegriffen wird, der sich in der nicht vorhandenen Datei befindet.</a:t>
            </a:r>
          </a:p>
          <a:p>
            <a:pPr lvl="1"/>
            <a:endParaRPr lang="de-DE" sz="1800" dirty="0"/>
          </a:p>
          <a:p>
            <a:r>
              <a:rPr lang="de-DE" sz="1800" dirty="0"/>
              <a:t>Varianten</a:t>
            </a:r>
          </a:p>
          <a:p>
            <a:pPr lvl="1"/>
            <a:r>
              <a:rPr lang="de-DE" sz="1800" b="1" dirty="0"/>
              <a:t>require_once </a:t>
            </a:r>
            <a:r>
              <a:rPr lang="de-DE" sz="1800" dirty="0"/>
              <a:t>/ </a:t>
            </a:r>
            <a:r>
              <a:rPr lang="de-DE" sz="1800" b="1" dirty="0"/>
              <a:t>include_once</a:t>
            </a:r>
            <a:br>
              <a:rPr lang="de-DE" sz="1800" dirty="0"/>
            </a:br>
            <a:r>
              <a:rPr lang="de-DE" sz="1800" dirty="0"/>
              <a:t>Diese beiden Varianten machen das Gleiche, was oben bereits beschrieben wurde.</a:t>
            </a:r>
            <a:br>
              <a:rPr lang="de-DE" sz="1800" dirty="0"/>
            </a:br>
            <a:br>
              <a:rPr lang="de-DE" sz="1800" dirty="0"/>
            </a:br>
            <a:r>
              <a:rPr lang="de-DE" sz="1800" dirty="0"/>
              <a:t>Allerdings werden Dateien nur </a:t>
            </a:r>
            <a:r>
              <a:rPr lang="de-DE" sz="1800" dirty="0">
                <a:solidFill>
                  <a:schemeClr val="accent2"/>
                </a:solidFill>
              </a:rPr>
              <a:t>EINMAL</a:t>
            </a:r>
            <a:r>
              <a:rPr lang="de-DE" sz="1800" dirty="0"/>
              <a:t> eingebunden und nicht erneut bei jedem Aufruf der Seite.</a:t>
            </a:r>
          </a:p>
          <a:p>
            <a:endParaRPr lang="de-DE" sz="1800" b="1" dirty="0"/>
          </a:p>
        </p:txBody>
      </p:sp>
    </p:spTree>
    <p:extLst>
      <p:ext uri="{BB962C8B-B14F-4D97-AF65-F5344CB8AC3E}">
        <p14:creationId xmlns:p14="http://schemas.microsoft.com/office/powerpoint/2010/main" val="1438057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13.05.2022</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11</a:t>
            </a:fld>
            <a:endParaRPr lang="de-DE"/>
          </a:p>
        </p:txBody>
      </p:sp>
      <p:sp>
        <p:nvSpPr>
          <p:cNvPr id="14" name="Titel 10"/>
          <p:cNvSpPr>
            <a:spLocks noGrp="1"/>
          </p:cNvSpPr>
          <p:nvPr>
            <p:ph type="title"/>
          </p:nvPr>
        </p:nvSpPr>
        <p:spPr>
          <a:xfrm>
            <a:off x="362422" y="550865"/>
            <a:ext cx="8559156" cy="720725"/>
          </a:xfrm>
        </p:spPr>
        <p:txBody>
          <a:bodyPr vert="horz" lIns="91440" tIns="45720" rIns="91440" bIns="45720" rtlCol="0" anchor="t" anchorCtr="0">
            <a:noAutofit/>
          </a:bodyPr>
          <a:lstStyle/>
          <a:p>
            <a:r>
              <a:rPr lang="de-DE" dirty="0">
                <a:effectLst>
                  <a:outerShdw blurRad="38100" dist="38100" dir="2700000" algn="tl">
                    <a:srgbClr val="000000">
                      <a:alpha val="43137"/>
                    </a:srgbClr>
                  </a:outerShdw>
                </a:effectLst>
              </a:rPr>
              <a:t>4. </a:t>
            </a:r>
            <a:r>
              <a:rPr lang="de-DE" sz="4400" dirty="0"/>
              <a:t>Require und Include</a:t>
            </a:r>
            <a:r>
              <a:rPr lang="de-DE" dirty="0">
                <a:effectLst>
                  <a:outerShdw blurRad="38100" dist="38100" dir="2700000" algn="tl">
                    <a:srgbClr val="000000">
                      <a:alpha val="43137"/>
                    </a:srgbClr>
                  </a:outerShdw>
                </a:effectLst>
              </a:rPr>
              <a:t> </a:t>
            </a:r>
            <a:br>
              <a:rPr lang="de-DE" dirty="0">
                <a:effectLst>
                  <a:outerShdw blurRad="38100" dist="38100" dir="2700000" algn="tl">
                    <a:srgbClr val="000000">
                      <a:alpha val="43137"/>
                    </a:srgbClr>
                  </a:outerShdw>
                </a:effectLst>
              </a:rPr>
            </a:br>
            <a:r>
              <a:rPr lang="de-DE" dirty="0">
                <a:effectLst>
                  <a:outerShdw blurRad="38100" dist="38100" dir="2700000" algn="tl">
                    <a:srgbClr val="000000">
                      <a:alpha val="43137"/>
                    </a:srgbClr>
                  </a:outerShdw>
                </a:effectLst>
              </a:rPr>
              <a:t> </a:t>
            </a:r>
          </a:p>
        </p:txBody>
      </p:sp>
      <p:sp>
        <p:nvSpPr>
          <p:cNvPr id="7" name="Fußzeilenplatzhalter 4">
            <a:extLst>
              <a:ext uri="{FF2B5EF4-FFF2-40B4-BE49-F238E27FC236}">
                <a16:creationId xmlns:a16="http://schemas.microsoft.com/office/drawing/2014/main" id="{B4FC8C08-814E-C440-5298-FDEBA31856EC}"/>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
        <p:nvSpPr>
          <p:cNvPr id="8" name="Textplatzhalter 1">
            <a:extLst>
              <a:ext uri="{FF2B5EF4-FFF2-40B4-BE49-F238E27FC236}">
                <a16:creationId xmlns:a16="http://schemas.microsoft.com/office/drawing/2014/main" id="{4C30C700-9245-B8A4-F2CF-A3EC8BA578AE}"/>
              </a:ext>
            </a:extLst>
          </p:cNvPr>
          <p:cNvSpPr txBox="1">
            <a:spLocks/>
          </p:cNvSpPr>
          <p:nvPr/>
        </p:nvSpPr>
        <p:spPr>
          <a:xfrm>
            <a:off x="362422" y="1463581"/>
            <a:ext cx="11495753" cy="44198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800" dirty="0"/>
              <a:t>require und include können nicht nur für PHP-Code verwendet werden, sondern auch zum Einbinden von bspw. HTML oder einfachen Textdateien. Wichtig ist nur, dass die Datei etwas „Verwertbares“ enthält.</a:t>
            </a:r>
          </a:p>
          <a:p>
            <a:r>
              <a:rPr lang="de-DE" sz="1800" dirty="0"/>
              <a:t>Syntax</a:t>
            </a:r>
          </a:p>
          <a:p>
            <a:pPr marL="457200" lvl="1" indent="0">
              <a:buNone/>
            </a:pPr>
            <a:r>
              <a:rPr lang="de-DE" sz="1800" dirty="0"/>
              <a:t>require "MeineFunktionen.php"; </a:t>
            </a:r>
            <a:r>
              <a:rPr lang="de-DE" sz="1800" dirty="0">
                <a:solidFill>
                  <a:schemeClr val="accent2"/>
                </a:solidFill>
                <a:sym typeface="Wingdings" panose="05000000000000000000" pitchFamily="2" charset="2"/>
              </a:rPr>
              <a:t> Die Datei MUSS vorhanden sein, sonst gibt es einen Fehler</a:t>
            </a:r>
            <a:endParaRPr lang="de-DE" sz="1800" dirty="0">
              <a:solidFill>
                <a:schemeClr val="accent2"/>
              </a:solidFill>
            </a:endParaRPr>
          </a:p>
          <a:p>
            <a:pPr marL="457200" lvl="1" indent="0">
              <a:buNone/>
            </a:pPr>
            <a:r>
              <a:rPr lang="de-DE" sz="1800" dirty="0"/>
              <a:t>include "MeineFunktionen.php"; </a:t>
            </a:r>
            <a:r>
              <a:rPr lang="de-DE" sz="1800" dirty="0">
                <a:solidFill>
                  <a:schemeClr val="accent2"/>
                </a:solidFill>
                <a:sym typeface="Wingdings" panose="05000000000000000000" pitchFamily="2" charset="2"/>
              </a:rPr>
              <a:t> Die KANN vorhanden sein. Das Programm läuft weiter</a:t>
            </a:r>
            <a:endParaRPr lang="de-DE" sz="1800" dirty="0">
              <a:solidFill>
                <a:schemeClr val="accent2"/>
              </a:solidFill>
            </a:endParaRPr>
          </a:p>
          <a:p>
            <a:pPr marL="457200" lvl="1" indent="0">
              <a:buNone/>
            </a:pPr>
            <a:endParaRPr lang="de-DE" sz="1800" dirty="0"/>
          </a:p>
          <a:p>
            <a:pPr marL="457200" lvl="1" indent="0">
              <a:buNone/>
            </a:pPr>
            <a:r>
              <a:rPr lang="de-DE" sz="1800" dirty="0"/>
              <a:t>require_once "HtmlCode.html"; </a:t>
            </a:r>
            <a:r>
              <a:rPr lang="de-DE" sz="1800" dirty="0">
                <a:solidFill>
                  <a:schemeClr val="accent2"/>
                </a:solidFill>
                <a:sym typeface="Wingdings" panose="05000000000000000000" pitchFamily="2" charset="2"/>
              </a:rPr>
              <a:t> Die Datei wird nur EINMAL geladen</a:t>
            </a:r>
            <a:endParaRPr lang="de-DE" sz="1800" dirty="0">
              <a:solidFill>
                <a:schemeClr val="accent2"/>
              </a:solidFill>
            </a:endParaRPr>
          </a:p>
          <a:p>
            <a:pPr marL="457200" lvl="1" indent="0">
              <a:buNone/>
            </a:pPr>
            <a:r>
              <a:rPr lang="de-DE" sz="1800" dirty="0"/>
              <a:t>include_once "BeliebigeTextDatei.txt"; </a:t>
            </a:r>
            <a:r>
              <a:rPr lang="de-DE" sz="1800" dirty="0">
                <a:solidFill>
                  <a:schemeClr val="accent2"/>
                </a:solidFill>
                <a:sym typeface="Wingdings" panose="05000000000000000000" pitchFamily="2" charset="2"/>
              </a:rPr>
              <a:t> Die Datei wird nur EINMAL geladen</a:t>
            </a:r>
            <a:endParaRPr lang="de-DE" sz="1800" dirty="0">
              <a:solidFill>
                <a:schemeClr val="accent2"/>
              </a:solidFill>
            </a:endParaRPr>
          </a:p>
          <a:p>
            <a:endParaRPr lang="de-DE" sz="1800" dirty="0"/>
          </a:p>
        </p:txBody>
      </p:sp>
    </p:spTree>
    <p:extLst>
      <p:ext uri="{BB962C8B-B14F-4D97-AF65-F5344CB8AC3E}">
        <p14:creationId xmlns:p14="http://schemas.microsoft.com/office/powerpoint/2010/main" val="3859742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13.05.2022</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12</a:t>
            </a:fld>
            <a:endParaRPr lang="de-DE"/>
          </a:p>
        </p:txBody>
      </p:sp>
      <p:sp>
        <p:nvSpPr>
          <p:cNvPr id="14" name="Titel 10"/>
          <p:cNvSpPr>
            <a:spLocks noGrp="1"/>
          </p:cNvSpPr>
          <p:nvPr>
            <p:ph type="title"/>
          </p:nvPr>
        </p:nvSpPr>
        <p:spPr>
          <a:xfrm>
            <a:off x="362422" y="550865"/>
            <a:ext cx="8559156" cy="720725"/>
          </a:xfrm>
        </p:spPr>
        <p:txBody>
          <a:bodyPr vert="horz" lIns="91440" tIns="45720" rIns="91440" bIns="45720" rtlCol="0" anchor="t" anchorCtr="0">
            <a:noAutofit/>
          </a:bodyPr>
          <a:lstStyle/>
          <a:p>
            <a:r>
              <a:rPr lang="de-DE" dirty="0">
                <a:effectLst>
                  <a:outerShdw blurRad="38100" dist="38100" dir="2700000" algn="tl">
                    <a:srgbClr val="000000">
                      <a:alpha val="43137"/>
                    </a:srgbClr>
                  </a:outerShdw>
                </a:effectLst>
              </a:rPr>
              <a:t>4. </a:t>
            </a:r>
            <a:r>
              <a:rPr lang="de-DE" sz="4400" dirty="0"/>
              <a:t>Require und Include</a:t>
            </a:r>
            <a:r>
              <a:rPr lang="de-DE" dirty="0">
                <a:effectLst>
                  <a:outerShdw blurRad="38100" dist="38100" dir="2700000" algn="tl">
                    <a:srgbClr val="000000">
                      <a:alpha val="43137"/>
                    </a:srgbClr>
                  </a:outerShdw>
                </a:effectLst>
              </a:rPr>
              <a:t> </a:t>
            </a:r>
            <a:br>
              <a:rPr lang="de-DE" dirty="0">
                <a:effectLst>
                  <a:outerShdw blurRad="38100" dist="38100" dir="2700000" algn="tl">
                    <a:srgbClr val="000000">
                      <a:alpha val="43137"/>
                    </a:srgbClr>
                  </a:outerShdw>
                </a:effectLst>
              </a:rPr>
            </a:br>
            <a:r>
              <a:rPr lang="de-DE" dirty="0">
                <a:effectLst>
                  <a:outerShdw blurRad="38100" dist="38100" dir="2700000" algn="tl">
                    <a:srgbClr val="000000">
                      <a:alpha val="43137"/>
                    </a:srgbClr>
                  </a:outerShdw>
                </a:effectLst>
              </a:rPr>
              <a:t> </a:t>
            </a:r>
          </a:p>
        </p:txBody>
      </p:sp>
      <p:sp>
        <p:nvSpPr>
          <p:cNvPr id="7" name="Fußzeilenplatzhalter 4">
            <a:extLst>
              <a:ext uri="{FF2B5EF4-FFF2-40B4-BE49-F238E27FC236}">
                <a16:creationId xmlns:a16="http://schemas.microsoft.com/office/drawing/2014/main" id="{B4FC8C08-814E-C440-5298-FDEBA31856EC}"/>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
        <p:nvSpPr>
          <p:cNvPr id="11" name="Textplatzhalter 1">
            <a:extLst>
              <a:ext uri="{FF2B5EF4-FFF2-40B4-BE49-F238E27FC236}">
                <a16:creationId xmlns:a16="http://schemas.microsoft.com/office/drawing/2014/main" id="{00B5855C-7D0A-39EB-32E4-6E1C2409272D}"/>
              </a:ext>
            </a:extLst>
          </p:cNvPr>
          <p:cNvSpPr txBox="1">
            <a:spLocks/>
          </p:cNvSpPr>
          <p:nvPr/>
        </p:nvSpPr>
        <p:spPr>
          <a:xfrm>
            <a:off x="362422" y="1463581"/>
            <a:ext cx="3450453" cy="4419877"/>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800" b="1" dirty="0"/>
              <a:t>Beispiel 1</a:t>
            </a:r>
          </a:p>
          <a:p>
            <a:pPr marL="457200" lvl="1" indent="0">
              <a:buFont typeface="Arial" panose="020B0604020202020204" pitchFamily="34" charset="0"/>
              <a:buNone/>
            </a:pPr>
            <a:r>
              <a:rPr lang="de-DE" sz="1800" dirty="0"/>
              <a:t>function meineFunktion(){</a:t>
            </a:r>
          </a:p>
          <a:p>
            <a:pPr marL="457200" lvl="1" indent="0">
              <a:buFont typeface="Arial" panose="020B0604020202020204" pitchFamily="34" charset="0"/>
              <a:buNone/>
            </a:pPr>
            <a:r>
              <a:rPr lang="de-DE" sz="1800" dirty="0"/>
              <a:t>	include "include.txt";</a:t>
            </a:r>
          </a:p>
          <a:p>
            <a:pPr marL="457200" lvl="1" indent="0">
              <a:buFont typeface="Arial" panose="020B0604020202020204" pitchFamily="34" charset="0"/>
              <a:buNone/>
            </a:pPr>
            <a:r>
              <a:rPr lang="de-DE" sz="1800" dirty="0"/>
              <a:t>}</a:t>
            </a:r>
          </a:p>
          <a:p>
            <a:pPr marL="457200" lvl="1" indent="0">
              <a:buFont typeface="Arial" panose="020B0604020202020204" pitchFamily="34" charset="0"/>
              <a:buNone/>
            </a:pPr>
            <a:endParaRPr lang="de-DE" sz="1800" dirty="0"/>
          </a:p>
          <a:p>
            <a:pPr marL="457200" lvl="1" indent="0">
              <a:buFont typeface="Arial" panose="020B0604020202020204" pitchFamily="34" charset="0"/>
              <a:buNone/>
            </a:pPr>
            <a:r>
              <a:rPr lang="de-DE" sz="1800" dirty="0"/>
              <a:t>meineFunktion();</a:t>
            </a:r>
          </a:p>
          <a:p>
            <a:pPr marL="457200" lvl="1" indent="0">
              <a:buFont typeface="Arial" panose="020B0604020202020204" pitchFamily="34" charset="0"/>
              <a:buNone/>
            </a:pPr>
            <a:r>
              <a:rPr lang="de-DE" sz="1800" dirty="0"/>
              <a:t>meineFunktion();</a:t>
            </a:r>
          </a:p>
          <a:p>
            <a:pPr marL="457200" lvl="1" indent="0">
              <a:buNone/>
            </a:pPr>
            <a:r>
              <a:rPr lang="de-DE" sz="1800" dirty="0"/>
              <a:t>meineFunktion();</a:t>
            </a:r>
          </a:p>
          <a:p>
            <a:pPr marL="457200" lvl="1" indent="0">
              <a:buFont typeface="Arial" panose="020B0604020202020204" pitchFamily="34" charset="0"/>
              <a:buNone/>
            </a:pPr>
            <a:endParaRPr lang="de-DE" sz="1800" b="1" dirty="0"/>
          </a:p>
          <a:p>
            <a:pPr marL="457200" lvl="1" indent="0">
              <a:buFont typeface="Arial" panose="020B0604020202020204" pitchFamily="34" charset="0"/>
              <a:buNone/>
            </a:pPr>
            <a:r>
              <a:rPr lang="de-DE" sz="1800" b="1" dirty="0"/>
              <a:t>Ausgabe:</a:t>
            </a:r>
          </a:p>
          <a:p>
            <a:pPr marL="457200" lvl="1" indent="0">
              <a:buFont typeface="Arial" panose="020B0604020202020204" pitchFamily="34" charset="0"/>
              <a:buNone/>
            </a:pPr>
            <a:r>
              <a:rPr lang="de-DE" sz="1800" dirty="0"/>
              <a:t>Ich bin ein Text!</a:t>
            </a:r>
          </a:p>
          <a:p>
            <a:pPr marL="457200" lvl="1" indent="0">
              <a:buFont typeface="Arial" panose="020B0604020202020204" pitchFamily="34" charset="0"/>
              <a:buNone/>
            </a:pPr>
            <a:r>
              <a:rPr lang="de-DE" sz="1800" dirty="0"/>
              <a:t>Ich bin ein Text!</a:t>
            </a:r>
          </a:p>
          <a:p>
            <a:pPr marL="457200" lvl="1" indent="0">
              <a:buFont typeface="Arial" panose="020B0604020202020204" pitchFamily="34" charset="0"/>
              <a:buNone/>
            </a:pPr>
            <a:r>
              <a:rPr lang="de-DE" sz="1800" dirty="0"/>
              <a:t>Ich bin ein Text!</a:t>
            </a:r>
          </a:p>
        </p:txBody>
      </p:sp>
      <p:sp>
        <p:nvSpPr>
          <p:cNvPr id="12" name="Textplatzhalter 1">
            <a:extLst>
              <a:ext uri="{FF2B5EF4-FFF2-40B4-BE49-F238E27FC236}">
                <a16:creationId xmlns:a16="http://schemas.microsoft.com/office/drawing/2014/main" id="{1CFC4720-5346-6D7D-81A1-31A78F5C0A26}"/>
              </a:ext>
            </a:extLst>
          </p:cNvPr>
          <p:cNvSpPr txBox="1">
            <a:spLocks/>
          </p:cNvSpPr>
          <p:nvPr/>
        </p:nvSpPr>
        <p:spPr>
          <a:xfrm>
            <a:off x="4015624" y="1463581"/>
            <a:ext cx="4160752" cy="4419877"/>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800" b="1" dirty="0"/>
              <a:t>Beispiel 2</a:t>
            </a:r>
          </a:p>
          <a:p>
            <a:pPr marL="457200" lvl="1" indent="0">
              <a:buFont typeface="Arial" panose="020B0604020202020204" pitchFamily="34" charset="0"/>
              <a:buNone/>
            </a:pPr>
            <a:r>
              <a:rPr lang="de-DE" sz="1800" dirty="0"/>
              <a:t>function meineFunktion(){</a:t>
            </a:r>
          </a:p>
          <a:p>
            <a:pPr marL="457200" lvl="1" indent="0">
              <a:buFont typeface="Arial" panose="020B0604020202020204" pitchFamily="34" charset="0"/>
              <a:buNone/>
            </a:pPr>
            <a:r>
              <a:rPr lang="de-DE" sz="1800" dirty="0"/>
              <a:t>	include_once "include.txt";</a:t>
            </a:r>
          </a:p>
          <a:p>
            <a:pPr marL="457200" lvl="1" indent="0">
              <a:buFont typeface="Arial" panose="020B0604020202020204" pitchFamily="34" charset="0"/>
              <a:buNone/>
            </a:pPr>
            <a:r>
              <a:rPr lang="de-DE" sz="1800" dirty="0"/>
              <a:t>}</a:t>
            </a:r>
          </a:p>
          <a:p>
            <a:pPr marL="457200" lvl="1" indent="0">
              <a:buFont typeface="Arial" panose="020B0604020202020204" pitchFamily="34" charset="0"/>
              <a:buNone/>
            </a:pPr>
            <a:endParaRPr lang="de-DE" sz="1800" dirty="0"/>
          </a:p>
          <a:p>
            <a:pPr marL="457200" lvl="1" indent="0">
              <a:buFont typeface="Arial" panose="020B0604020202020204" pitchFamily="34" charset="0"/>
              <a:buNone/>
            </a:pPr>
            <a:r>
              <a:rPr lang="de-DE" sz="1800" dirty="0"/>
              <a:t>meineFunktion();</a:t>
            </a:r>
          </a:p>
          <a:p>
            <a:pPr marL="457200" lvl="1" indent="0">
              <a:buFont typeface="Arial" panose="020B0604020202020204" pitchFamily="34" charset="0"/>
              <a:buNone/>
            </a:pPr>
            <a:r>
              <a:rPr lang="de-DE" sz="1800" dirty="0"/>
              <a:t>meineFunktion();</a:t>
            </a:r>
          </a:p>
          <a:p>
            <a:pPr marL="457200" lvl="1" indent="0">
              <a:buNone/>
            </a:pPr>
            <a:r>
              <a:rPr lang="de-DE" sz="1800" dirty="0"/>
              <a:t>meineFunktion();</a:t>
            </a:r>
          </a:p>
          <a:p>
            <a:pPr marL="457200" lvl="1" indent="0">
              <a:buFont typeface="Arial" panose="020B0604020202020204" pitchFamily="34" charset="0"/>
              <a:buNone/>
            </a:pPr>
            <a:endParaRPr lang="de-DE" sz="1800" b="1" dirty="0"/>
          </a:p>
          <a:p>
            <a:pPr marL="457200" lvl="1" indent="0">
              <a:buFont typeface="Arial" panose="020B0604020202020204" pitchFamily="34" charset="0"/>
              <a:buNone/>
            </a:pPr>
            <a:r>
              <a:rPr lang="de-DE" sz="1800" b="1" dirty="0"/>
              <a:t>Ausgabe:</a:t>
            </a:r>
          </a:p>
          <a:p>
            <a:pPr marL="457200" lvl="1" indent="0">
              <a:buFont typeface="Arial" panose="020B0604020202020204" pitchFamily="34" charset="0"/>
              <a:buNone/>
            </a:pPr>
            <a:r>
              <a:rPr lang="de-DE" sz="1800" dirty="0"/>
              <a:t>Ich bin ein Text!</a:t>
            </a:r>
          </a:p>
          <a:p>
            <a:pPr marL="457200" lvl="1" indent="0">
              <a:buFont typeface="Arial" panose="020B0604020202020204" pitchFamily="34" charset="0"/>
              <a:buNone/>
            </a:pPr>
            <a:endParaRPr lang="de-DE" sz="1800" dirty="0"/>
          </a:p>
        </p:txBody>
      </p:sp>
      <p:sp>
        <p:nvSpPr>
          <p:cNvPr id="13" name="Textfeld 12">
            <a:extLst>
              <a:ext uri="{FF2B5EF4-FFF2-40B4-BE49-F238E27FC236}">
                <a16:creationId xmlns:a16="http://schemas.microsoft.com/office/drawing/2014/main" id="{208D5437-D7CE-CAE3-63AB-6980C6E04307}"/>
              </a:ext>
            </a:extLst>
          </p:cNvPr>
          <p:cNvSpPr txBox="1"/>
          <p:nvPr/>
        </p:nvSpPr>
        <p:spPr>
          <a:xfrm>
            <a:off x="8379125" y="1463581"/>
            <a:ext cx="3250573" cy="2862322"/>
          </a:xfrm>
          <a:prstGeom prst="rect">
            <a:avLst/>
          </a:prstGeom>
          <a:noFill/>
          <a:ln>
            <a:solidFill>
              <a:schemeClr val="tx1"/>
            </a:solidFill>
          </a:ln>
        </p:spPr>
        <p:txBody>
          <a:bodyPr wrap="square" rtlCol="0">
            <a:spAutoFit/>
          </a:bodyPr>
          <a:lstStyle/>
          <a:p>
            <a:r>
              <a:rPr lang="de-DE" dirty="0"/>
              <a:t>Inhalt der Datei „include.txt“:</a:t>
            </a:r>
          </a:p>
          <a:p>
            <a:endParaRPr lang="de-DE" dirty="0"/>
          </a:p>
          <a:p>
            <a:r>
              <a:rPr lang="de-DE" dirty="0">
                <a:solidFill>
                  <a:schemeClr val="accent2"/>
                </a:solidFill>
              </a:rPr>
              <a:t>Ich bin ein Text!&lt;br&gt;</a:t>
            </a:r>
          </a:p>
          <a:p>
            <a:endParaRPr lang="de-DE" dirty="0"/>
          </a:p>
          <a:p>
            <a:endParaRPr lang="de-DE" dirty="0"/>
          </a:p>
          <a:p>
            <a:r>
              <a:rPr lang="de-DE" dirty="0"/>
              <a:t>Obwohl es eine simple Textdatei ist, wird das HTML-Tag für einen Zeilenumbruch erkannt und ausgeführt.</a:t>
            </a:r>
          </a:p>
          <a:p>
            <a:endParaRPr lang="de-DE" dirty="0"/>
          </a:p>
        </p:txBody>
      </p:sp>
    </p:spTree>
    <p:extLst>
      <p:ext uri="{BB962C8B-B14F-4D97-AF65-F5344CB8AC3E}">
        <p14:creationId xmlns:p14="http://schemas.microsoft.com/office/powerpoint/2010/main" val="2909698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40C0C267-4062-4957-B483-26A6CCA2C40D}" type="datetime1">
              <a:rPr lang="de-DE" smtClean="0"/>
              <a:t>13.05.2022</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13</a:t>
            </a:fld>
            <a:endParaRPr lang="de-DE"/>
          </a:p>
        </p:txBody>
      </p:sp>
      <p:sp>
        <p:nvSpPr>
          <p:cNvPr id="11" name="Textplatzhalter 10"/>
          <p:cNvSpPr>
            <a:spLocks noGrp="1"/>
          </p:cNvSpPr>
          <p:nvPr>
            <p:ph type="body" sz="quarter" idx="13"/>
          </p:nvPr>
        </p:nvSpPr>
        <p:spPr>
          <a:xfrm>
            <a:off x="5363852" y="2208373"/>
            <a:ext cx="5751512" cy="707704"/>
          </a:xfrm>
        </p:spPr>
        <p:txBody>
          <a:bodyPr>
            <a:noAutofit/>
          </a:bodyPr>
          <a:lstStyle/>
          <a:p>
            <a:r>
              <a:rPr lang="de-DE" sz="3200" dirty="0"/>
              <a:t>Aufgabe</a:t>
            </a:r>
          </a:p>
        </p:txBody>
      </p:sp>
      <p:sp>
        <p:nvSpPr>
          <p:cNvPr id="13" name="Textplatzhalter 12"/>
          <p:cNvSpPr>
            <a:spLocks noGrp="1"/>
          </p:cNvSpPr>
          <p:nvPr>
            <p:ph type="body" sz="quarter" idx="15"/>
          </p:nvPr>
        </p:nvSpPr>
        <p:spPr/>
        <p:txBody>
          <a:bodyPr/>
          <a:lstStyle/>
          <a:p>
            <a:r>
              <a:rPr lang="de-DE" dirty="0"/>
              <a:t>05</a:t>
            </a: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0"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a:p>
        </p:txBody>
      </p:sp>
      <p:sp>
        <p:nvSpPr>
          <p:cNvPr id="22" name="Fußzeilenplatzhalter 4">
            <a:extLst>
              <a:ext uri="{FF2B5EF4-FFF2-40B4-BE49-F238E27FC236}">
                <a16:creationId xmlns:a16="http://schemas.microsoft.com/office/drawing/2014/main" id="{E0F079E7-9CD0-A193-BF2E-B3E887AABDA0}"/>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Tree>
    <p:extLst>
      <p:ext uri="{BB962C8B-B14F-4D97-AF65-F5344CB8AC3E}">
        <p14:creationId xmlns:p14="http://schemas.microsoft.com/office/powerpoint/2010/main" val="2564098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13.05.2022</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14</a:t>
            </a:fld>
            <a:endParaRPr lang="de-DE"/>
          </a:p>
        </p:txBody>
      </p:sp>
      <p:sp>
        <p:nvSpPr>
          <p:cNvPr id="14" name="Titel 10"/>
          <p:cNvSpPr>
            <a:spLocks noGrp="1"/>
          </p:cNvSpPr>
          <p:nvPr>
            <p:ph type="title"/>
          </p:nvPr>
        </p:nvSpPr>
        <p:spPr>
          <a:xfrm>
            <a:off x="362422" y="550865"/>
            <a:ext cx="8559156" cy="720725"/>
          </a:xfrm>
        </p:spPr>
        <p:txBody>
          <a:bodyPr vert="horz" lIns="91440" tIns="45720" rIns="91440" bIns="45720" rtlCol="0" anchor="t" anchorCtr="0">
            <a:noAutofit/>
          </a:bodyPr>
          <a:lstStyle/>
          <a:p>
            <a:r>
              <a:rPr lang="de-DE" dirty="0">
                <a:effectLst>
                  <a:outerShdw blurRad="38100" dist="38100" dir="2700000" algn="tl">
                    <a:srgbClr val="000000">
                      <a:alpha val="43137"/>
                    </a:srgbClr>
                  </a:outerShdw>
                </a:effectLst>
              </a:rPr>
              <a:t>5. </a:t>
            </a:r>
            <a:r>
              <a:rPr lang="de-DE" sz="4400" dirty="0"/>
              <a:t>Aufgabe</a:t>
            </a:r>
            <a:r>
              <a:rPr lang="de-DE" dirty="0">
                <a:effectLst>
                  <a:outerShdw blurRad="38100" dist="38100" dir="2700000" algn="tl">
                    <a:srgbClr val="000000">
                      <a:alpha val="43137"/>
                    </a:srgbClr>
                  </a:outerShdw>
                </a:effectLst>
              </a:rPr>
              <a:t> </a:t>
            </a:r>
          </a:p>
        </p:txBody>
      </p:sp>
      <p:sp>
        <p:nvSpPr>
          <p:cNvPr id="7" name="Fußzeilenplatzhalter 4">
            <a:extLst>
              <a:ext uri="{FF2B5EF4-FFF2-40B4-BE49-F238E27FC236}">
                <a16:creationId xmlns:a16="http://schemas.microsoft.com/office/drawing/2014/main" id="{B4FC8C08-814E-C440-5298-FDEBA31856EC}"/>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
        <p:nvSpPr>
          <p:cNvPr id="8" name="Textplatzhalter 1">
            <a:extLst>
              <a:ext uri="{FF2B5EF4-FFF2-40B4-BE49-F238E27FC236}">
                <a16:creationId xmlns:a16="http://schemas.microsoft.com/office/drawing/2014/main" id="{4C30C700-9245-B8A4-F2CF-A3EC8BA578AE}"/>
              </a:ext>
            </a:extLst>
          </p:cNvPr>
          <p:cNvSpPr txBox="1">
            <a:spLocks/>
          </p:cNvSpPr>
          <p:nvPr/>
        </p:nvSpPr>
        <p:spPr>
          <a:xfrm>
            <a:off x="362422" y="1463581"/>
            <a:ext cx="11495753" cy="49113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800" b="1" dirty="0"/>
              <a:t>Schreiben Sie ein Lotto-Programm in PHP</a:t>
            </a:r>
          </a:p>
          <a:p>
            <a:r>
              <a:rPr lang="de-DE" sz="1800" dirty="0"/>
              <a:t>Ermitteln Sie die Zahlen der Lotto-Ziehung per Zufall. Vermeiden Sie doppelte Zufallszahlen. Geben Sie die Zahlen auf dem Bildschirm aus.</a:t>
            </a:r>
          </a:p>
          <a:p>
            <a:r>
              <a:rPr lang="de-DE" sz="1800" dirty="0"/>
              <a:t>Erstellen Sie 8 Tippreihen mit Zufallszahlen und geben Sie die Tippreihen auf dem Bildschirm aus</a:t>
            </a:r>
          </a:p>
          <a:p>
            <a:r>
              <a:rPr lang="de-DE" sz="1800" dirty="0"/>
              <a:t>Vergleichen Sie die Tippreihen mit der Ziehung. Richtige Treffer sollen markiert/ausgegeben/sichtbar gemacht werden.</a:t>
            </a:r>
          </a:p>
          <a:p>
            <a:r>
              <a:rPr lang="de-DE" sz="1800" dirty="0"/>
              <a:t>Finden Sie heraus, welche Array-Funktionen hilfreich sein könnten.</a:t>
            </a:r>
            <a:br>
              <a:rPr lang="de-DE" sz="1800" dirty="0"/>
            </a:br>
            <a:r>
              <a:rPr lang="de-DE" sz="1800" dirty="0"/>
              <a:t>Beispiel: shuffle($arrayname) verwürfelt den Inhalt des Arrays.</a:t>
            </a:r>
          </a:p>
          <a:p>
            <a:r>
              <a:rPr lang="de-DE" sz="1800" dirty="0"/>
              <a:t>Verwenden Sie HTML/CSS, um die Ausgabe zu gestalten.</a:t>
            </a:r>
          </a:p>
          <a:p>
            <a:r>
              <a:rPr lang="de-DE" sz="1800" dirty="0"/>
              <a:t>Lagern Sie die Funktion zum Mischen eines Arrays aus.</a:t>
            </a:r>
          </a:p>
          <a:p>
            <a:r>
              <a:rPr lang="de-DE" sz="1800" dirty="0"/>
              <a:t>Lagern Sie den Start und das Ende der HTML-Seite aus.</a:t>
            </a:r>
          </a:p>
          <a:p>
            <a:r>
              <a:rPr lang="de-DE" sz="1800" dirty="0"/>
              <a:t>Binden Sie die ausgelagerten Elemente ein.</a:t>
            </a:r>
          </a:p>
          <a:p>
            <a:r>
              <a:rPr lang="de-DE" sz="1800" dirty="0"/>
              <a:t>Entscheiden Sie, ob Sie </a:t>
            </a:r>
            <a:r>
              <a:rPr lang="de-DE" sz="1800" dirty="0">
                <a:solidFill>
                  <a:schemeClr val="accent2"/>
                </a:solidFill>
              </a:rPr>
              <a:t>include</a:t>
            </a:r>
            <a:r>
              <a:rPr lang="de-DE" sz="1800" dirty="0"/>
              <a:t> oder </a:t>
            </a:r>
            <a:r>
              <a:rPr lang="de-DE" sz="1800" dirty="0">
                <a:solidFill>
                  <a:schemeClr val="accent2"/>
                </a:solidFill>
              </a:rPr>
              <a:t>require</a:t>
            </a:r>
            <a:r>
              <a:rPr lang="de-DE" sz="1800" dirty="0"/>
              <a:t> verwenden.</a:t>
            </a:r>
          </a:p>
          <a:p>
            <a:pPr marL="0" indent="0">
              <a:buNone/>
            </a:pPr>
            <a:endParaRPr lang="de-DE" sz="1800" dirty="0"/>
          </a:p>
          <a:p>
            <a:endParaRPr lang="de-DE" sz="1800" dirty="0"/>
          </a:p>
        </p:txBody>
      </p:sp>
    </p:spTree>
    <p:extLst>
      <p:ext uri="{BB962C8B-B14F-4D97-AF65-F5344CB8AC3E}">
        <p14:creationId xmlns:p14="http://schemas.microsoft.com/office/powerpoint/2010/main" val="41488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1A1EF246-A331-40BD-9B13-8D4FB18E633C}" type="datetime1">
              <a:rPr lang="de-DE" smtClean="0"/>
              <a:t>13.05.2022</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15</a:t>
            </a:fld>
            <a:endParaRPr lang="de-DE"/>
          </a:p>
        </p:txBody>
      </p:sp>
      <p:sp>
        <p:nvSpPr>
          <p:cNvPr id="7" name="Textplatzhalter 6"/>
          <p:cNvSpPr>
            <a:spLocks noGrp="1"/>
          </p:cNvSpPr>
          <p:nvPr>
            <p:ph type="body" sz="quarter" idx="13"/>
          </p:nvPr>
        </p:nvSpPr>
        <p:spPr/>
        <p:txBody>
          <a:bodyPr/>
          <a:lstStyle/>
          <a:p>
            <a:r>
              <a:rPr lang="de-DE" dirty="0"/>
              <a:t>VIELEN DANK!</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endParaRPr lang="de-DE"/>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a:p>
          </p:txBody>
        </p:sp>
      </p:grpSp>
      <p:sp>
        <p:nvSpPr>
          <p:cNvPr id="20" name="Fußzeilenplatzhalter 4">
            <a:extLst>
              <a:ext uri="{FF2B5EF4-FFF2-40B4-BE49-F238E27FC236}">
                <a16:creationId xmlns:a16="http://schemas.microsoft.com/office/drawing/2014/main" id="{D72753E7-7884-D39D-1EB5-C17C6A90E0AA}"/>
              </a:ext>
            </a:extLst>
          </p:cNvPr>
          <p:cNvSpPr>
            <a:spLocks noGrp="1"/>
          </p:cNvSpPr>
          <p:nvPr>
            <p:ph type="ftr" sz="quarter" idx="11"/>
          </p:nvPr>
        </p:nvSpPr>
        <p:spPr>
          <a:xfrm>
            <a:off x="5363852" y="6311900"/>
            <a:ext cx="4326902" cy="409575"/>
          </a:xfrm>
        </p:spPr>
        <p:txBody>
          <a:bodyPr/>
          <a:lstStyle>
            <a:lvl1pPr>
              <a:defRPr/>
            </a:lvl1pPr>
          </a:lstStyle>
          <a:p>
            <a:r>
              <a:rPr lang="de-DE" dirty="0"/>
              <a:t>PHP -&gt; Webserver -&gt; Datenbank </a:t>
            </a:r>
            <a:r>
              <a:rPr lang="de-DE" dirty="0">
                <a:sym typeface="Wingdings" panose="05000000000000000000" pitchFamily="2" charset="2"/>
              </a:rPr>
              <a:t> XAMPP</a:t>
            </a:r>
            <a:endParaRPr lang="de-DE" dirty="0"/>
          </a:p>
        </p:txBody>
      </p:sp>
    </p:spTree>
    <p:extLst>
      <p:ext uri="{BB962C8B-B14F-4D97-AF65-F5344CB8AC3E}">
        <p14:creationId xmlns:p14="http://schemas.microsoft.com/office/powerpoint/2010/main" val="4251287452"/>
      </p:ext>
    </p:extLst>
  </p:cSld>
  <p:clrMapOvr>
    <a:masterClrMapping/>
  </p:clrMapOvr>
</p:sld>
</file>

<file path=ppt/theme/theme1.xml><?xml version="1.0" encoding="utf-8"?>
<a:theme xmlns:a="http://schemas.openxmlformats.org/drawingml/2006/main" name="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Benutzerdefiniert 1">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2E2894E4CF43FC4786D65296C0CD6BF1" ma:contentTypeVersion="15" ma:contentTypeDescription="Ein neues Dokument erstellen." ma:contentTypeScope="" ma:versionID="d521319f713a1350fd86e25816647953">
  <xsd:schema xmlns:xsd="http://www.w3.org/2001/XMLSchema" xmlns:xs="http://www.w3.org/2001/XMLSchema" xmlns:p="http://schemas.microsoft.com/office/2006/metadata/properties" xmlns:ns2="f22e8a00-551a-48c6-b378-c6ed4955e6ee" xmlns:ns3="8757b47b-59dc-4c9e-8178-d43937388e35" targetNamespace="http://schemas.microsoft.com/office/2006/metadata/properties" ma:root="true" ma:fieldsID="173317a72181b2f0a4ea4e70ca65c6e8" ns2:_="" ns3:_="">
    <xsd:import namespace="f22e8a00-551a-48c6-b378-c6ed4955e6ee"/>
    <xsd:import namespace="8757b47b-59dc-4c9e-8178-d43937388e3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2e8a00-551a-48c6-b378-c6ed4955e6ee" elementFormDefault="qualified">
    <xsd:import namespace="http://schemas.microsoft.com/office/2006/documentManagement/types"/>
    <xsd:import namespace="http://schemas.microsoft.com/office/infopath/2007/PartnerControls"/>
    <xsd:element name="SharedWithUsers" ma:index="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Freigegeben für - Details" ma:internalName="SharedWithDetails" ma:readOnly="true">
      <xsd:simpleType>
        <xsd:restriction base="dms:Note">
          <xsd:maxLength value="255"/>
        </xsd:restriction>
      </xsd:simpleType>
    </xsd:element>
    <xsd:element name="TaxCatchAll" ma:index="14" nillable="true" ma:displayName="Taxonomy Catch All Column" ma:hidden="true" ma:list="{559174ce-b004-4f1e-a04d-a197baedd0ca}" ma:internalName="TaxCatchAll" ma:showField="CatchAllData" ma:web="f22e8a00-551a-48c6-b378-c6ed4955e6e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757b47b-59dc-4c9e-8178-d43937388e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ecb1af77-71c4-40a4-865f-7f05b01a85a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22e8a00-551a-48c6-b378-c6ed4955e6ee" xsi:nil="true"/>
    <lcf76f155ced4ddcb4097134ff3c332f xmlns="8757b47b-59dc-4c9e-8178-d43937388e3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09FE0D6-4155-4875-8530-0F15B54126B2}"/>
</file>

<file path=customXml/itemProps2.xml><?xml version="1.0" encoding="utf-8"?>
<ds:datastoreItem xmlns:ds="http://schemas.openxmlformats.org/officeDocument/2006/customXml" ds:itemID="{7DC4B365-D60D-4037-A37A-A28D7A5CFE0A}"/>
</file>

<file path=customXml/itemProps3.xml><?xml version="1.0" encoding="utf-8"?>
<ds:datastoreItem xmlns:ds="http://schemas.openxmlformats.org/officeDocument/2006/customXml" ds:itemID="{3E909CDE-1E78-4361-95F8-F8C52EC557B9}"/>
</file>

<file path=docProps/app.xml><?xml version="1.0" encoding="utf-8"?>
<Properties xmlns="http://schemas.openxmlformats.org/officeDocument/2006/extended-properties" xmlns:vt="http://schemas.openxmlformats.org/officeDocument/2006/docPropsVTypes">
  <TotalTime>0</TotalTime>
  <Words>930</Words>
  <Application>Microsoft Office PowerPoint</Application>
  <PresentationFormat>Breitbild</PresentationFormat>
  <Paragraphs>173</Paragraphs>
  <Slides>15</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15</vt:i4>
      </vt:variant>
    </vt:vector>
  </HeadingPairs>
  <TitlesOfParts>
    <vt:vector size="19" baseType="lpstr">
      <vt:lpstr>Arial</vt:lpstr>
      <vt:lpstr>Calibri</vt:lpstr>
      <vt:lpstr>Source Sans Pro</vt:lpstr>
      <vt:lpstr>Office</vt:lpstr>
      <vt:lpstr>Webprogrammierung 2</vt:lpstr>
      <vt:lpstr>Themenübersicht</vt:lpstr>
      <vt:lpstr>PowerPoint-Präsentation</vt:lpstr>
      <vt:lpstr>1. Funktionen</vt:lpstr>
      <vt:lpstr>PowerPoint-Präsentation</vt:lpstr>
      <vt:lpstr>2. Parameter</vt:lpstr>
      <vt:lpstr>PowerPoint-Präsentation</vt:lpstr>
      <vt:lpstr>3. Rückgabewert</vt:lpstr>
      <vt:lpstr>PowerPoint-Präsentation</vt:lpstr>
      <vt:lpstr>4. Require und Include   </vt:lpstr>
      <vt:lpstr>4. Require und Include   </vt:lpstr>
      <vt:lpstr>4. Require und Include   </vt:lpstr>
      <vt:lpstr>PowerPoint-Präsentation</vt:lpstr>
      <vt:lpstr>5. Aufgabe </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WBS TRAINING AG; Florian Schaffer</dc:creator>
  <cp:lastModifiedBy>Peter Schwertner</cp:lastModifiedBy>
  <cp:revision>204</cp:revision>
  <dcterms:created xsi:type="dcterms:W3CDTF">2021-03-02T18:50:01Z</dcterms:created>
  <dcterms:modified xsi:type="dcterms:W3CDTF">2022-05-13T09:34:56Z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0x0101002E2894E4CF43FC4786D65296C0CD6BF1</vt:lpwstr>
  </property>
  <property fmtid="{D5CDD505-2E9C-101B-9397-08002B2CF9AE}" pid="3" name="MSIP_Label_fbcd8fc3-b265-457f-a091-07ed218d65a3_Enabled">
    <vt:lpwstr>true</vt:lpwstr>
  </property>
  <property fmtid="{D5CDD505-2E9C-101B-9397-08002B2CF9AE}" pid="4" name="MSIP_Label_fbcd8fc3-b265-457f-a091-07ed218d65a3_SetDate">
    <vt:lpwstr>2023-04-28T11:17:28Z</vt:lpwstr>
  </property>
  <property fmtid="{D5CDD505-2E9C-101B-9397-08002B2CF9AE}" pid="5" name="MSIP_Label_fbcd8fc3-b265-457f-a091-07ed218d65a3_Method">
    <vt:lpwstr>Privileged</vt:lpwstr>
  </property>
  <property fmtid="{D5CDD505-2E9C-101B-9397-08002B2CF9AE}" pid="6" name="MSIP_Label_fbcd8fc3-b265-457f-a091-07ed218d65a3_Name">
    <vt:lpwstr>Temporär</vt:lpwstr>
  </property>
  <property fmtid="{D5CDD505-2E9C-101B-9397-08002B2CF9AE}" pid="7" name="MSIP_Label_fbcd8fc3-b265-457f-a091-07ed218d65a3_SiteId">
    <vt:lpwstr>c3759932-d709-4ec4-b7d5-bcee39f7a2fc</vt:lpwstr>
  </property>
  <property fmtid="{D5CDD505-2E9C-101B-9397-08002B2CF9AE}" pid="8" name="MSIP_Label_fbcd8fc3-b265-457f-a091-07ed218d65a3_ActionId">
    <vt:lpwstr>97d4c6ee-8656-4610-986b-f5e9d0e1d0e6</vt:lpwstr>
  </property>
  <property fmtid="{D5CDD505-2E9C-101B-9397-08002B2CF9AE}" pid="9" name="MSIP_Label_fbcd8fc3-b265-457f-a091-07ed218d65a3_ContentBits">
    <vt:lpwstr>0</vt:lpwstr>
  </property>
  <property fmtid="{D5CDD505-2E9C-101B-9397-08002B2CF9AE}" pid="10" name="MediaServiceImageTags">
    <vt:lpwstr/>
  </property>
</Properties>
</file>